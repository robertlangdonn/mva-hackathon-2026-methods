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2cad9a8a2b34465" /><Relationship Type="http://schemas.openxmlformats.org/officeDocument/2006/relationships/extended-properties" Target="/docProps/app.xml" Id="R7243416d9abe440a" /><Relationship Type="http://schemas.openxmlformats.org/officeDocument/2006/relationships/officeDocument" Target="/ppt/presentation.xml" Id="Rae6ff8ceb9104da6" /></Relationships>
</file>

<file path=ppt/presentation.xml><?xml version="1.0" encoding="utf-8"?>
<p:presentation xmlns:p="http://schemas.openxmlformats.org/presentationml/2006/main">
  <p:sldMasterIdLst>
    <p:sldMasterId xmlns:r="http://schemas.openxmlformats.org/officeDocument/2006/relationships" id="2147483648" r:id="Rdacf1d95ba204c55"/>
  </p:sldMasterIdLst>
  <p:notesMasterIdLst>
    <p:notesMasterId xmlns:r="http://schemas.openxmlformats.org/officeDocument/2006/relationships" r:id="Raa74e202f3ab4bcd"/>
  </p:notesMasterIdLst>
  <p:sldIdLst>
    <p:sldId xmlns:r="http://schemas.openxmlformats.org/officeDocument/2006/relationships" id="256" r:id="R4fcfd6bc0b844fd6"/>
    <p:sldId xmlns:r="http://schemas.openxmlformats.org/officeDocument/2006/relationships" id="257" r:id="Rc8b4692d16824ba5"/>
    <p:sldId xmlns:r="http://schemas.openxmlformats.org/officeDocument/2006/relationships" id="258" r:id="R441dc740ff4947f5"/>
    <p:sldId xmlns:r="http://schemas.openxmlformats.org/officeDocument/2006/relationships" id="259" r:id="R521333bfeda64c7e"/>
    <p:sldId xmlns:r="http://schemas.openxmlformats.org/officeDocument/2006/relationships" id="260" r:id="R6a71b4f51d7b4bea"/>
    <p:sldId xmlns:r="http://schemas.openxmlformats.org/officeDocument/2006/relationships" id="261" r:id="R2b1b4d0123c945a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49beb91cc704df6" /><Relationship Type="http://schemas.openxmlformats.org/officeDocument/2006/relationships/slideMaster" Target="/ppt/slideMasters/slideMaster1.xml" Id="Rdacf1d95ba204c55" /><Relationship Type="http://schemas.openxmlformats.org/officeDocument/2006/relationships/notesMaster" Target="/ppt/notesMasters/notesMaster1.xml" Id="Raa74e202f3ab4bcd" /><Relationship Type="http://schemas.openxmlformats.org/officeDocument/2006/relationships/presProps" Target="/ppt/presProps.xml" Id="R1c6210014df64c06" /><Relationship Type="http://schemas.openxmlformats.org/officeDocument/2006/relationships/tableStyles" Target="/ppt/tableStyles.xml" Id="Rfad98684c8164915" /><Relationship Type="http://schemas.openxmlformats.org/officeDocument/2006/relationships/slide" Target="/ppt/slides/slide1.xml" Id="R4fcfd6bc0b844fd6" /><Relationship Type="http://schemas.openxmlformats.org/officeDocument/2006/relationships/slide" Target="/ppt/slides/slide2.xml" Id="Rc8b4692d16824ba5" /><Relationship Type="http://schemas.openxmlformats.org/officeDocument/2006/relationships/slide" Target="/ppt/slides/slide3.xml" Id="R441dc740ff4947f5" /><Relationship Type="http://schemas.openxmlformats.org/officeDocument/2006/relationships/slide" Target="/ppt/slides/slide4.xml" Id="R521333bfeda64c7e" /><Relationship Type="http://schemas.openxmlformats.org/officeDocument/2006/relationships/slide" Target="/ppt/slides/slide5.xml" Id="R6a71b4f51d7b4bea" /><Relationship Type="http://schemas.openxmlformats.org/officeDocument/2006/relationships/slide" Target="/ppt/slides/slide6.xml" Id="R2b1b4d0123c945a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0edc29ea0f4a1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4dbde81991a4242" /><Relationship Type="http://schemas.openxmlformats.org/officeDocument/2006/relationships/notesMaster" Target="/ppt/notesMasters/notesMaster1.xml" Id="R88e6e2027fbe46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5b5ad05885f14ab7" /><Relationship Type="http://schemas.openxmlformats.org/officeDocument/2006/relationships/notesMaster" Target="/ppt/notesMasters/notesMaster1.xml" Id="R411604c450394e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cfa8adcc1f3a4685" /><Relationship Type="http://schemas.openxmlformats.org/officeDocument/2006/relationships/notesMaster" Target="/ppt/notesMasters/notesMaster1.xml" Id="R82d386d1a29c43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90c896c2100c4d23" /><Relationship Type="http://schemas.openxmlformats.org/officeDocument/2006/relationships/notesMaster" Target="/ppt/notesMasters/notesMaster1.xml" Id="Rdf58f350b1224bb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ff04aca6524a85" /><Relationship Type="http://schemas.openxmlformats.org/officeDocument/2006/relationships/notesMaster" Target="/ppt/notesMasters/notesMaster1.xml" Id="R1e6104385ca2403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43ba36b1f7048f7" /><Relationship Type="http://schemas.openxmlformats.org/officeDocument/2006/relationships/notesMaster" Target="/ppt/notesMasters/notesMaster1.xml" Id="Rab42e8e8b132482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 Prasad Khake. My background is software, and I entered this challenge to see what I could contribute to a real biological problem. I used Codex to help investigate the evidence and build analysis tools. My proposal is to test whether nicotinic acid can improve chromosome division in BUBR1-related MVA. Here is what I found, and the experiment those findings justify.</a:t>
            </a:r>
          </a:p>
          <a:p xmlns:a="http://schemas.openxmlformats.org/drawingml/2006/main">
            <a:r>
              <a:t/>
            </a:r>
          </a:p>
          <a:p xmlns:a="http://schemas.openxmlformats.org/drawingml/2006/main">
            <a:r>
              <a:t>Sources and qualifications:</a:t>
            </a:r>
          </a:p>
          <a:p xmlns:a="http://schemas.openxmlformats.org/drawingml/2006/main">
            <a:r>
              <a:t>Participant background and AI disclosure; this project proposes follow-up research, not clinical use. Track 2 framing: https://huggingface.co/spaces/SageBio/rare-disease-real-kid-mva-hackathon-2026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Nicotinic acid can feed NAD production through NAPRT. Published work connects NAD-dependent SIRT2 activity with BUBR1 stability. Separately, genetic BUBR1 restoration supports testing chromosome-division function. These findings suggest a possibility: preserve useful residual BUBR1. The studies used different interventions and models, so the complete nicotinic-acid-to-functional-rescue chain still needs testing.</a:t>
            </a:r>
          </a:p>
          <a:p xmlns:a="http://schemas.openxmlformats.org/drawingml/2006/main">
            <a:r>
              <a:t/>
            </a:r>
          </a:p>
          <a:p xmlns:a="http://schemas.openxmlformats.org/drawingml/2006/main">
            <a:r>
              <a:t>Sources and qualifications:</a:t>
            </a:r>
          </a:p>
          <a:p xmlns:a="http://schemas.openxmlformats.org/drawingml/2006/main">
            <a:r>
              <a:t>Hara 2007 https://doi.org/10.1074/jbc.M610357200; North 2014 https://doi.org/10.15252/embj.201386907; Suijkerbuijk 2010 https://pmc.ncbi.nlm.nih.gov/articles/PMC2887387/. NMN and genetic SIRT2 experiments do not demonstrate nicotinic-acid rescue in MVA. Exact candidate function and usable residual protein remain unresolved.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reanalysed public muscle RNA data from a niacin study in mitochondrial myopathy. Among four patients with paired samples at month four, SIRT2 RNA increased in all four. The magnitude was fragile in sensitivity checks, and month-ten direction was not robust. BUB1B RNA was too sparse to assess. This exploratory result adds context; it cannot establish BUBR1 protein activity or a drug response in MVA.</a:t>
            </a:r>
          </a:p>
          <a:p xmlns:a="http://schemas.openxmlformats.org/drawingml/2006/main">
            <a:r>
              <a:t/>
            </a:r>
          </a:p>
          <a:p xmlns:a="http://schemas.openxmlformats.org/drawingml/2006/main">
            <a:r>
              <a:t>Sources and qualifications:</a:t>
            </a:r>
          </a:p>
          <a:p xmlns:a="http://schemas.openxmlformats.org/drawingml/2006/main">
            <a:r>
              <a:t>https://www.ncbi.nlm.nih.gov/geo/query/acc.cgi?acc=GSE129811; https://doi.org/10.1016/j.cmet.2020.04.008. Local public-niacin-results-2026-10-16.md and public-niacin-sensitivity-results-2026-10-16.md. Fixed nine-gene panel retained. Four month-4 patient pairs; three month-10 pairs. Open-label study without an untreated disease arm; all nine genes and conflicting findings retained. Same-data author normalization agreement is not independent replication.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 is a controlled cell experiment. Establish the defect and a wild-type restoration control, then check NAD engagement and BUBR1 response. The decisive readout is fewer chromosome-segregation errors while cells keep dividing and producing healthy cells. More protein alone is insufficient. Independent replicates and viability measurements would help reject apparent improvement caused by cell death or arrest.</a:t>
            </a:r>
          </a:p>
          <a:p xmlns:a="http://schemas.openxmlformats.org/drawingml/2006/main">
            <a:r>
              <a:t/>
            </a:r>
          </a:p>
          <a:p xmlns:a="http://schemas.openxmlformats.org/drawingml/2006/main">
            <a:r>
              <a:t>Sources and qualifications:</a:t>
            </a:r>
          </a:p>
          <a:p xmlns:a="http://schemas.openxmlformats.org/drawingml/2006/main">
            <a:r>
              <a:t>Suijkerbuijk 2010 https://pmc.ncbi.nlm.nih.gov/articles/PMC2887387/; project prespecified experiment-analysis plan. Proposed work only; no laboratory participation, funding or experimental results claimed. Measure baseline NAD and precursor utilization; include vehicle and appropriate controls and independent biological replicates.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If that test succeeds, it could justify further work on preserving residual BUBR1 function in suitable MVA contexts. An existing prescription product provides a repurposing anchor. Effective exposure and pediatric safety still need investigation. Increased survival could also protect abnormal cells, so chromosome fidelity, tissue growth and tumor risk need separate evaluation before any clinical consideration.</a:t>
            </a:r>
          </a:p>
          <a:p xmlns:a="http://schemas.openxmlformats.org/drawingml/2006/main">
            <a:r>
              <a:t/>
            </a:r>
          </a:p>
          <a:p xmlns:a="http://schemas.openxmlformats.org/drawingml/2006/main">
            <a:r>
              <a:t>Sources and qualifications:</a:t>
            </a:r>
          </a:p>
          <a:p xmlns:a="http://schemas.openxmlformats.org/drawingml/2006/main">
            <a:r>
              <a:t>Project integrated report sections 3, 6 and 7; DailyMed niacin extended-release ANDA203899 is an existing approval, not an MVA indication or equivalent to the public study formulation. Effective exposure, pediatric pharmacokinetics and exact variant response remain unknown. Wortham https://doi.org/10.1172/JCI187020; O'Brien https://doi.org/10.1593/neo.131718 support context-dependent caveats, not a measured risk for this child. No dosing or treatment recommendation.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 contribution is an inspectable case for testing this candidate, including the evidence against it. I built reproducible public-data analyses and defined outcomes that would support or reject the hypothesis. Others can adapt that workflow, although broader disease validation remains ahead. I’m proposing a focused experiment that could turn a plausible mechanism into a useful answer.</a:t>
            </a:r>
          </a:p>
          <a:p xmlns:a="http://schemas.openxmlformats.org/drawingml/2006/main">
            <a:r>
              <a:t/>
            </a:r>
          </a:p>
          <a:p xmlns:a="http://schemas.openxmlformats.org/drawingml/2006/main">
            <a:r>
              <a:t>Sources and qualifications:</a:t>
            </a:r>
          </a:p>
          <a:p xmlns:a="http://schemas.openxmlformats.org/drawingml/2006/main">
            <a:r>
              <a:t>Project report, claim-evidence audit and public-data scripts/tests. Reusability is methodological; no demonstrated generalization to other diseases. Codex-assisted work; no claim to discovery priority, laboratory validation or expert endorsement.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b862d54750845c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69efad830847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b93d14c5060459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b6eb7542ab4f7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08c13333d564d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8ced9b1623c471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FDD8DE9-10F4-46EC-8EE2-9EA5B67556F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B66B98D-291D-42F9-BC97-8B4B1F25D40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F2CD80-7662-4A0B-954C-8FF6919AEF6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B32204A-43B4-480C-B31F-809D1F7EE4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E14A262-149D-41C5-916E-01B40D595C7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EEBA274-15F6-445A-8A97-5699CA3D351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0CC95D7-3154-4F8B-9D28-FC3489A3201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E79E3CF-B7FE-4C21-8850-14C37A870AD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2381571-6A92-4713-B475-A9D71E8C22E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21E4CC-36D3-4B69-AA50-F75EFCAA2B8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d316e04fdaa44d3" /><Relationship Type="http://schemas.openxmlformats.org/officeDocument/2006/relationships/slideLayout" Target="/ppt/slideLayouts/slideLayout1.xml" Id="R183a38d309e545a1" /><Relationship Type="http://schemas.openxmlformats.org/officeDocument/2006/relationships/slideLayout" Target="/ppt/slideLayouts/slideLayout2.xml" Id="R3ad262c000d0498a" /><Relationship Type="http://schemas.openxmlformats.org/officeDocument/2006/relationships/slideLayout" Target="/ppt/slideLayouts/slideLayout3.xml" Id="R7487de41508d4e37" /><Relationship Type="http://schemas.openxmlformats.org/officeDocument/2006/relationships/slideLayout" Target="/ppt/slideLayouts/slideLayout4.xml" Id="R9514a3af52c140eb" /><Relationship Type="http://schemas.openxmlformats.org/officeDocument/2006/relationships/slideLayout" Target="/ppt/slideLayouts/slideLayout5.xml" Id="Rdf664469f1f3424c" /><Relationship Type="http://schemas.openxmlformats.org/officeDocument/2006/relationships/slideLayout" Target="/ppt/slideLayouts/slideLayout6.xml" Id="Raddc9d4aafd845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83a38d309e545a1"/>
    <p:sldLayoutId xmlns:r="http://schemas.openxmlformats.org/officeDocument/2006/relationships" id="2147483650" r:id="R3ad262c000d0498a"/>
    <p:sldLayoutId xmlns:r="http://schemas.openxmlformats.org/officeDocument/2006/relationships" id="2147483651" r:id="R7487de41508d4e37"/>
    <p:sldLayoutId xmlns:r="http://schemas.openxmlformats.org/officeDocument/2006/relationships" id="2147483652" r:id="R9514a3af52c140eb"/>
    <p:sldLayoutId xmlns:r="http://schemas.openxmlformats.org/officeDocument/2006/relationships" id="2147483653" r:id="Rdf664469f1f3424c"/>
    <p:sldLayoutId xmlns:r="http://schemas.openxmlformats.org/officeDocument/2006/relationships" id="2147483654" r:id="Raddc9d4aafd845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280626b6da34bc4" /><Relationship Type="http://schemas.openxmlformats.org/officeDocument/2006/relationships/notesSlide" Target="/ppt/notesSlides/notesSlide1.xml" Id="Recf5ee8bbfa04f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9ff001c57bf47ba" /><Relationship Type="http://schemas.openxmlformats.org/officeDocument/2006/relationships/notesSlide" Target="/ppt/notesSlides/notesSlide2.xml" Id="R1f84364e3b0540e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90e2b6b440e4734" /><Relationship Type="http://schemas.openxmlformats.org/officeDocument/2006/relationships/notesSlide" Target="/ppt/notesSlides/notesSlide3.xml" Id="R2c2b82bce0ae4ae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acf090da73048dc" /><Relationship Type="http://schemas.openxmlformats.org/officeDocument/2006/relationships/notesSlide" Target="/ppt/notesSlides/notesSlide4.xml" Id="R9c64930b4c5b4f9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9df9fb19a01473e" /><Relationship Type="http://schemas.openxmlformats.org/officeDocument/2006/relationships/notesSlide" Target="/ppt/notesSlides/notesSlide5.xml" Id="R366e921e019d482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8ad9542e9194c9f" /><Relationship Type="http://schemas.openxmlformats.org/officeDocument/2006/relationships/notesSlide" Target="/ppt/notesSlides/notesSlide6.xml" Id="Rb3fba4b1bff4459b" /></Relationships>
</file>

<file path=ppt/slides/slide1.xml><?xml version="1.0" encoding="utf-8"?>
<p:sld xmlns:p="http://schemas.openxmlformats.org/presentationml/2006/main">
  <p:cSld>
    <p:bg>
      <p:bgPr>
        <a:solidFill xmlns:a="http://schemas.openxmlformats.org/drawingml/2006/main">
          <a:srgbClr val="132A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67A874E-1286-4D6B-A066-C96A996C4896}"/>
              </a:ext>
            </a:extLst>
          </p:cNvPr>
          <p:cNvSpPr>
            <a:spLocks xmlns:a="http://schemas.openxmlformats.org/drawingml/2006/main" noGrp="1"/>
          </p:cNvSpPr>
          <p:nvPr/>
        </p:nvSpPr>
        <p:spPr>
          <a:xfrm xmlns:a="http://schemas.openxmlformats.org/drawingml/2006/main">
            <a:off x="685800" y="1047750"/>
            <a:ext cx="10763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1">
                <a:solidFill>
                  <a:srgbClr val="FAF8F2"/>
                </a:solidFill>
                <a:latin typeface="Helvetica Neue"/>
                <a:ea typeface="Helvetica Neue"/>
                <a:cs typeface="Helvetica Neue"/>
              </a:defRPr>
            </a:defPPr>
            <a:lvl1pPr>
              <a:buNone/>
              <a:defRPr sz="4800" b="1">
                <a:solidFill>
                  <a:srgbClr val="FAF8F2"/>
                </a:solidFill>
                <a:latin typeface="Helvetica Neue"/>
                <a:ea typeface="Helvetica Neue"/>
                <a:cs typeface="Helvetica Neue"/>
              </a:defRPr>
            </a:lvl1pPr>
            <a:lvl2pPr>
              <a:buNone/>
              <a:defRPr sz="4800" b="1">
                <a:solidFill>
                  <a:srgbClr val="FAF8F2"/>
                </a:solidFill>
                <a:latin typeface="Helvetica Neue"/>
                <a:ea typeface="Helvetica Neue"/>
                <a:cs typeface="Helvetica Neue"/>
              </a:defRPr>
            </a:lvl2pPr>
            <a:lvl3pPr>
              <a:buNone/>
              <a:defRPr sz="4800" b="1">
                <a:solidFill>
                  <a:srgbClr val="FAF8F2"/>
                </a:solidFill>
                <a:latin typeface="Helvetica Neue"/>
                <a:ea typeface="Helvetica Neue"/>
                <a:cs typeface="Helvetica Neue"/>
              </a:defRPr>
            </a:lvl3pPr>
            <a:lvl4pPr>
              <a:buNone/>
              <a:defRPr sz="4800" b="1">
                <a:solidFill>
                  <a:srgbClr val="FAF8F2"/>
                </a:solidFill>
                <a:latin typeface="Helvetica Neue"/>
                <a:ea typeface="Helvetica Neue"/>
                <a:cs typeface="Helvetica Neue"/>
              </a:defRPr>
            </a:lvl4pPr>
            <a:lvl5pPr>
              <a:buNone/>
              <a:defRPr sz="4800" b="1">
                <a:solidFill>
                  <a:srgbClr val="FAF8F2"/>
                </a:solidFill>
                <a:latin typeface="Helvetica Neue"/>
                <a:ea typeface="Helvetica Neue"/>
                <a:cs typeface="Helvetica Neue"/>
              </a:defRPr>
            </a:lvl5pPr>
            <a:lvl6pPr>
              <a:buNone/>
              <a:defRPr sz="4800" b="1">
                <a:solidFill>
                  <a:srgbClr val="FAF8F2"/>
                </a:solidFill>
                <a:latin typeface="Helvetica Neue"/>
                <a:ea typeface="Helvetica Neue"/>
                <a:cs typeface="Helvetica Neue"/>
              </a:defRPr>
            </a:lvl6pPr>
            <a:lvl7pPr>
              <a:buNone/>
              <a:defRPr sz="4800" b="1">
                <a:solidFill>
                  <a:srgbClr val="FAF8F2"/>
                </a:solidFill>
                <a:latin typeface="Helvetica Neue"/>
                <a:ea typeface="Helvetica Neue"/>
                <a:cs typeface="Helvetica Neue"/>
              </a:defRPr>
            </a:lvl7pPr>
            <a:lvl8pPr>
              <a:buNone/>
              <a:defRPr sz="4800" b="1">
                <a:solidFill>
                  <a:srgbClr val="FAF8F2"/>
                </a:solidFill>
                <a:latin typeface="Helvetica Neue"/>
                <a:ea typeface="Helvetica Neue"/>
                <a:cs typeface="Helvetica Neue"/>
              </a:defRPr>
            </a:lvl8pPr>
            <a:lvl9pPr>
              <a:buNone/>
              <a:defRPr sz="4800" b="1">
                <a:solidFill>
                  <a:srgbClr val="FAF8F2"/>
                </a:solidFill>
                <a:latin typeface="Helvetica Neue"/>
                <a:ea typeface="Helvetica Neue"/>
                <a:cs typeface="Helvetica Neue"/>
              </a:defRPr>
            </a:lvl9pPr>
          </a:lstStyle>
          <a:p xmlns:a="http://schemas.openxmlformats.org/drawingml/2006/main">
            <a:pPr>
              <a:buNone/>
              <a:defRPr sz="4800" b="1">
                <a:solidFill>
                  <a:srgbClr val="FAF8F2"/>
                </a:solidFill>
                <a:latin typeface="Helvetica Neue"/>
                <a:ea typeface="Helvetica Neue"/>
                <a:cs typeface="Helvetica Neue"/>
              </a:defRPr>
            </a:pPr>
            <a:r>
              <a:rPr sz="4800" b="1">
                <a:solidFill>
                  <a:srgbClr val="FAF8F2"/>
                </a:solidFill>
                <a:latin typeface="Helvetica Neue"/>
                <a:ea typeface="Helvetica Neue"/>
                <a:cs typeface="Helvetica Neue"/>
              </a:rPr>
              <a:t>Nicotinic acid</a:t>
            </a:r>
          </a:p>
          <a:p xmlns:a="http://schemas.openxmlformats.org/drawingml/2006/main">
            <a:pPr>
              <a:buNone/>
              <a:defRPr sz="4800" b="1">
                <a:solidFill>
                  <a:srgbClr val="FAF8F2"/>
                </a:solidFill>
                <a:latin typeface="Helvetica Neue"/>
                <a:ea typeface="Helvetica Neue"/>
                <a:cs typeface="Helvetica Neue"/>
              </a:defRPr>
            </a:pPr>
            <a:r>
              <a:rPr sz="4800" b="1">
                <a:solidFill>
                  <a:srgbClr val="FAF8F2"/>
                </a:solidFill>
                <a:latin typeface="Helvetica Neue"/>
                <a:ea typeface="Helvetica Neue"/>
                <a:cs typeface="Helvetica Neue"/>
              </a:rPr>
              <a:t>A hypothesis for MVA</a:t>
            </a:r>
          </a:p>
        </p:txBody>
      </p:sp>
      <p:sp>
        <p:nvSpPr>
          <p:cNvPr id="2" name="">
            <a:extLst xmlns:a="http://schemas.openxmlformats.org/drawingml/2006/main">
              <a:ext uri="{FF2B5EF4-FFF2-40B4-BE49-F238E27FC236}">
                <a16:creationId xmlns:a16="http://schemas.microsoft.com/office/drawing/2014/main" id="{87E47884-99D0-43DB-9959-48B3D4BD659B}"/>
              </a:ext>
            </a:extLst>
          </p:cNvPr>
          <p:cNvSpPr>
            <a:spLocks xmlns:a="http://schemas.openxmlformats.org/drawingml/2006/main" noGrp="1"/>
          </p:cNvSpPr>
          <p:nvPr/>
        </p:nvSpPr>
        <p:spPr>
          <a:xfrm xmlns:a="http://schemas.openxmlformats.org/drawingml/2006/main">
            <a:off x="685800" y="323850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AF8F2"/>
                </a:solidFill>
                <a:latin typeface="Helvetica Neue"/>
                <a:ea typeface="Helvetica Neue"/>
                <a:cs typeface="Helvetica Neue"/>
              </a:defRPr>
            </a:defPPr>
            <a:lvl1pPr>
              <a:buNone/>
              <a:defRPr sz="2250" b="0">
                <a:solidFill>
                  <a:srgbClr val="FAF8F2"/>
                </a:solidFill>
                <a:latin typeface="Helvetica Neue"/>
                <a:ea typeface="Helvetica Neue"/>
                <a:cs typeface="Helvetica Neue"/>
              </a:defRPr>
            </a:lvl1pPr>
            <a:lvl2pPr>
              <a:buNone/>
              <a:defRPr sz="2250" b="0">
                <a:solidFill>
                  <a:srgbClr val="FAF8F2"/>
                </a:solidFill>
                <a:latin typeface="Helvetica Neue"/>
                <a:ea typeface="Helvetica Neue"/>
                <a:cs typeface="Helvetica Neue"/>
              </a:defRPr>
            </a:lvl2pPr>
            <a:lvl3pPr>
              <a:buNone/>
              <a:defRPr sz="2250" b="0">
                <a:solidFill>
                  <a:srgbClr val="FAF8F2"/>
                </a:solidFill>
                <a:latin typeface="Helvetica Neue"/>
                <a:ea typeface="Helvetica Neue"/>
                <a:cs typeface="Helvetica Neue"/>
              </a:defRPr>
            </a:lvl3pPr>
            <a:lvl4pPr>
              <a:buNone/>
              <a:defRPr sz="2250" b="0">
                <a:solidFill>
                  <a:srgbClr val="FAF8F2"/>
                </a:solidFill>
                <a:latin typeface="Helvetica Neue"/>
                <a:ea typeface="Helvetica Neue"/>
                <a:cs typeface="Helvetica Neue"/>
              </a:defRPr>
            </a:lvl4pPr>
            <a:lvl5pPr>
              <a:buNone/>
              <a:defRPr sz="2250" b="0">
                <a:solidFill>
                  <a:srgbClr val="FAF8F2"/>
                </a:solidFill>
                <a:latin typeface="Helvetica Neue"/>
                <a:ea typeface="Helvetica Neue"/>
                <a:cs typeface="Helvetica Neue"/>
              </a:defRPr>
            </a:lvl5pPr>
            <a:lvl6pPr>
              <a:buNone/>
              <a:defRPr sz="2250" b="0">
                <a:solidFill>
                  <a:srgbClr val="FAF8F2"/>
                </a:solidFill>
                <a:latin typeface="Helvetica Neue"/>
                <a:ea typeface="Helvetica Neue"/>
                <a:cs typeface="Helvetica Neue"/>
              </a:defRPr>
            </a:lvl6pPr>
            <a:lvl7pPr>
              <a:buNone/>
              <a:defRPr sz="2250" b="0">
                <a:solidFill>
                  <a:srgbClr val="FAF8F2"/>
                </a:solidFill>
                <a:latin typeface="Helvetica Neue"/>
                <a:ea typeface="Helvetica Neue"/>
                <a:cs typeface="Helvetica Neue"/>
              </a:defRPr>
            </a:lvl7pPr>
            <a:lvl8pPr>
              <a:buNone/>
              <a:defRPr sz="2250" b="0">
                <a:solidFill>
                  <a:srgbClr val="FAF8F2"/>
                </a:solidFill>
                <a:latin typeface="Helvetica Neue"/>
                <a:ea typeface="Helvetica Neue"/>
                <a:cs typeface="Helvetica Neue"/>
              </a:defRPr>
            </a:lvl8pPr>
            <a:lvl9pPr>
              <a:buNone/>
              <a:defRPr sz="2250" b="0">
                <a:solidFill>
                  <a:srgbClr val="FAF8F2"/>
                </a:solidFill>
                <a:latin typeface="Helvetica Neue"/>
                <a:ea typeface="Helvetica Neue"/>
                <a:cs typeface="Helvetica Neue"/>
              </a:defRPr>
            </a:lvl9pPr>
          </a:lstStyle>
          <a:p xmlns:a="http://schemas.openxmlformats.org/drawingml/2006/main">
            <a:pPr>
              <a:buNone/>
              <a:defRPr sz="2250" b="0">
                <a:solidFill>
                  <a:srgbClr val="FAF8F2"/>
                </a:solidFill>
                <a:latin typeface="Helvetica Neue"/>
                <a:ea typeface="Helvetica Neue"/>
                <a:cs typeface="Helvetica Neue"/>
              </a:defRPr>
            </a:pPr>
            <a:r>
              <a:rPr sz="2250" b="0">
                <a:solidFill>
                  <a:srgbClr val="FAF8F2"/>
                </a:solidFill>
                <a:latin typeface="Helvetica Neue"/>
                <a:ea typeface="Helvetica Neue"/>
                <a:cs typeface="Helvetica Neue"/>
              </a:rPr>
              <a:t>Testing whether residual BUBR1 can support better cell division</a:t>
            </a:r>
          </a:p>
        </p:txBody>
      </p:sp>
      <p:sp>
        <p:nvSpPr>
          <p:cNvPr id="3" name="">
            <a:extLst xmlns:a="http://schemas.openxmlformats.org/drawingml/2006/main">
              <a:ext uri="{FF2B5EF4-FFF2-40B4-BE49-F238E27FC236}">
                <a16:creationId xmlns:a16="http://schemas.microsoft.com/office/drawing/2014/main" id="{C44FD745-58B5-4600-9086-0AC20A8CCF92}"/>
              </a:ext>
            </a:extLst>
          </p:cNvPr>
          <p:cNvSpPr>
            <a:spLocks xmlns:a="http://schemas.openxmlformats.org/drawingml/2006/main" noGrp="1"/>
          </p:cNvSpPr>
          <p:nvPr/>
        </p:nvSpPr>
        <p:spPr>
          <a:xfrm xmlns:a="http://schemas.openxmlformats.org/drawingml/2006/main">
            <a:off x="685800" y="42862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FAF8F2"/>
                </a:solidFill>
                <a:latin typeface="Helvetica Neue"/>
                <a:ea typeface="Helvetica Neue"/>
                <a:cs typeface="Helvetica Neue"/>
              </a:defRPr>
            </a:defPPr>
            <a:lvl1pPr>
              <a:buNone/>
              <a:defRPr sz="2250" b="0">
                <a:solidFill>
                  <a:srgbClr val="FAF8F2"/>
                </a:solidFill>
                <a:latin typeface="Helvetica Neue"/>
                <a:ea typeface="Helvetica Neue"/>
                <a:cs typeface="Helvetica Neue"/>
              </a:defRPr>
            </a:lvl1pPr>
            <a:lvl2pPr>
              <a:buNone/>
              <a:defRPr sz="2250" b="0">
                <a:solidFill>
                  <a:srgbClr val="FAF8F2"/>
                </a:solidFill>
                <a:latin typeface="Helvetica Neue"/>
                <a:ea typeface="Helvetica Neue"/>
                <a:cs typeface="Helvetica Neue"/>
              </a:defRPr>
            </a:lvl2pPr>
            <a:lvl3pPr>
              <a:buNone/>
              <a:defRPr sz="2250" b="0">
                <a:solidFill>
                  <a:srgbClr val="FAF8F2"/>
                </a:solidFill>
                <a:latin typeface="Helvetica Neue"/>
                <a:ea typeface="Helvetica Neue"/>
                <a:cs typeface="Helvetica Neue"/>
              </a:defRPr>
            </a:lvl3pPr>
            <a:lvl4pPr>
              <a:buNone/>
              <a:defRPr sz="2250" b="0">
                <a:solidFill>
                  <a:srgbClr val="FAF8F2"/>
                </a:solidFill>
                <a:latin typeface="Helvetica Neue"/>
                <a:ea typeface="Helvetica Neue"/>
                <a:cs typeface="Helvetica Neue"/>
              </a:defRPr>
            </a:lvl4pPr>
            <a:lvl5pPr>
              <a:buNone/>
              <a:defRPr sz="2250" b="0">
                <a:solidFill>
                  <a:srgbClr val="FAF8F2"/>
                </a:solidFill>
                <a:latin typeface="Helvetica Neue"/>
                <a:ea typeface="Helvetica Neue"/>
                <a:cs typeface="Helvetica Neue"/>
              </a:defRPr>
            </a:lvl5pPr>
            <a:lvl6pPr>
              <a:buNone/>
              <a:defRPr sz="2250" b="0">
                <a:solidFill>
                  <a:srgbClr val="FAF8F2"/>
                </a:solidFill>
                <a:latin typeface="Helvetica Neue"/>
                <a:ea typeface="Helvetica Neue"/>
                <a:cs typeface="Helvetica Neue"/>
              </a:defRPr>
            </a:lvl6pPr>
            <a:lvl7pPr>
              <a:buNone/>
              <a:defRPr sz="2250" b="0">
                <a:solidFill>
                  <a:srgbClr val="FAF8F2"/>
                </a:solidFill>
                <a:latin typeface="Helvetica Neue"/>
                <a:ea typeface="Helvetica Neue"/>
                <a:cs typeface="Helvetica Neue"/>
              </a:defRPr>
            </a:lvl7pPr>
            <a:lvl8pPr>
              <a:buNone/>
              <a:defRPr sz="2250" b="0">
                <a:solidFill>
                  <a:srgbClr val="FAF8F2"/>
                </a:solidFill>
                <a:latin typeface="Helvetica Neue"/>
                <a:ea typeface="Helvetica Neue"/>
                <a:cs typeface="Helvetica Neue"/>
              </a:defRPr>
            </a:lvl8pPr>
            <a:lvl9pPr>
              <a:buNone/>
              <a:defRPr sz="2250" b="0">
                <a:solidFill>
                  <a:srgbClr val="FAF8F2"/>
                </a:solidFill>
                <a:latin typeface="Helvetica Neue"/>
                <a:ea typeface="Helvetica Neue"/>
                <a:cs typeface="Helvetica Neue"/>
              </a:defRPr>
            </a:lvl9pPr>
          </a:lstStyle>
          <a:p xmlns:a="http://schemas.openxmlformats.org/drawingml/2006/main">
            <a:pPr>
              <a:buNone/>
              <a:defRPr sz="2250" b="0">
                <a:solidFill>
                  <a:srgbClr val="FAF8F2"/>
                </a:solidFill>
                <a:latin typeface="Helvetica Neue"/>
                <a:ea typeface="Helvetica Neue"/>
                <a:cs typeface="Helvetica Neue"/>
              </a:defRPr>
            </a:pPr>
            <a:r>
              <a:rPr sz="2250" b="0">
                <a:solidFill>
                  <a:srgbClr val="FAF8F2"/>
                </a:solidFill>
                <a:latin typeface="Helvetica Neue"/>
                <a:ea typeface="Helvetica Neue"/>
                <a:cs typeface="Helvetica Neue"/>
              </a:rPr>
              <a:t>Prasad Khake  /  donvitocorleone</a:t>
            </a:r>
          </a:p>
        </p:txBody>
      </p:sp>
      <p:sp>
        <p:nvSpPr>
          <p:cNvPr id="4" name="">
            <a:extLst xmlns:a="http://schemas.openxmlformats.org/drawingml/2006/main">
              <a:ext uri="{FF2B5EF4-FFF2-40B4-BE49-F238E27FC236}">
                <a16:creationId xmlns:a16="http://schemas.microsoft.com/office/drawing/2014/main" id="{8E121493-2FBA-4D0F-B91A-5AC165E36E2E}"/>
              </a:ext>
            </a:extLst>
          </p:cNvPr>
          <p:cNvSpPr>
            <a:spLocks xmlns:a="http://schemas.openxmlformats.org/drawingml/2006/main" noGrp="1"/>
          </p:cNvSpPr>
          <p:nvPr/>
        </p:nvSpPr>
        <p:spPr>
          <a:xfrm xmlns:a="http://schemas.openxmlformats.org/drawingml/2006/main">
            <a:off x="685800" y="5905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C5E0DD"/>
                </a:solidFill>
                <a:latin typeface="Helvetica Neue"/>
                <a:ea typeface="Helvetica Neue"/>
                <a:cs typeface="Helvetica Neue"/>
              </a:defRPr>
            </a:defPPr>
            <a:lvl1pPr>
              <a:buNone/>
              <a:defRPr sz="1800" b="0">
                <a:solidFill>
                  <a:srgbClr val="C5E0DD"/>
                </a:solidFill>
                <a:latin typeface="Helvetica Neue"/>
                <a:ea typeface="Helvetica Neue"/>
                <a:cs typeface="Helvetica Neue"/>
              </a:defRPr>
            </a:lvl1pPr>
            <a:lvl2pPr>
              <a:buNone/>
              <a:defRPr sz="1800" b="0">
                <a:solidFill>
                  <a:srgbClr val="C5E0DD"/>
                </a:solidFill>
                <a:latin typeface="Helvetica Neue"/>
                <a:ea typeface="Helvetica Neue"/>
                <a:cs typeface="Helvetica Neue"/>
              </a:defRPr>
            </a:lvl2pPr>
            <a:lvl3pPr>
              <a:buNone/>
              <a:defRPr sz="1800" b="0">
                <a:solidFill>
                  <a:srgbClr val="C5E0DD"/>
                </a:solidFill>
                <a:latin typeface="Helvetica Neue"/>
                <a:ea typeface="Helvetica Neue"/>
                <a:cs typeface="Helvetica Neue"/>
              </a:defRPr>
            </a:lvl3pPr>
            <a:lvl4pPr>
              <a:buNone/>
              <a:defRPr sz="1800" b="0">
                <a:solidFill>
                  <a:srgbClr val="C5E0DD"/>
                </a:solidFill>
                <a:latin typeface="Helvetica Neue"/>
                <a:ea typeface="Helvetica Neue"/>
                <a:cs typeface="Helvetica Neue"/>
              </a:defRPr>
            </a:lvl4pPr>
            <a:lvl5pPr>
              <a:buNone/>
              <a:defRPr sz="1800" b="0">
                <a:solidFill>
                  <a:srgbClr val="C5E0DD"/>
                </a:solidFill>
                <a:latin typeface="Helvetica Neue"/>
                <a:ea typeface="Helvetica Neue"/>
                <a:cs typeface="Helvetica Neue"/>
              </a:defRPr>
            </a:lvl5pPr>
            <a:lvl6pPr>
              <a:buNone/>
              <a:defRPr sz="1800" b="0">
                <a:solidFill>
                  <a:srgbClr val="C5E0DD"/>
                </a:solidFill>
                <a:latin typeface="Helvetica Neue"/>
                <a:ea typeface="Helvetica Neue"/>
                <a:cs typeface="Helvetica Neue"/>
              </a:defRPr>
            </a:lvl6pPr>
            <a:lvl7pPr>
              <a:buNone/>
              <a:defRPr sz="1800" b="0">
                <a:solidFill>
                  <a:srgbClr val="C5E0DD"/>
                </a:solidFill>
                <a:latin typeface="Helvetica Neue"/>
                <a:ea typeface="Helvetica Neue"/>
                <a:cs typeface="Helvetica Neue"/>
              </a:defRPr>
            </a:lvl7pPr>
            <a:lvl8pPr>
              <a:buNone/>
              <a:defRPr sz="1800" b="0">
                <a:solidFill>
                  <a:srgbClr val="C5E0DD"/>
                </a:solidFill>
                <a:latin typeface="Helvetica Neue"/>
                <a:ea typeface="Helvetica Neue"/>
                <a:cs typeface="Helvetica Neue"/>
              </a:defRPr>
            </a:lvl8pPr>
            <a:lvl9pPr>
              <a:buNone/>
              <a:defRPr sz="1800" b="0">
                <a:solidFill>
                  <a:srgbClr val="C5E0DD"/>
                </a:solidFill>
                <a:latin typeface="Helvetica Neue"/>
                <a:ea typeface="Helvetica Neue"/>
                <a:cs typeface="Helvetica Neue"/>
              </a:defRPr>
            </a:lvl9pPr>
          </a:lstStyle>
          <a:p xmlns:a="http://schemas.openxmlformats.org/drawingml/2006/main">
            <a:pPr>
              <a:buNone/>
              <a:defRPr sz="1800" b="0">
                <a:solidFill>
                  <a:srgbClr val="C5E0DD"/>
                </a:solidFill>
                <a:latin typeface="Helvetica Neue"/>
                <a:ea typeface="Helvetica Neue"/>
                <a:cs typeface="Helvetica Neue"/>
              </a:defRPr>
            </a:pPr>
            <a:r>
              <a:rPr sz="1800" b="0">
                <a:solidFill>
                  <a:srgbClr val="C5E0DD"/>
                </a:solidFill>
                <a:latin typeface="Helvetica Neue"/>
                <a:ea typeface="Helvetica Neue"/>
                <a:cs typeface="Helvetica Neue"/>
              </a:rPr>
              <a:t>My computational findings and a proposed laboratory test</a:t>
            </a:r>
          </a:p>
        </p:txBody>
      </p:sp>
    </p:spTree>
    <p:extLst>
      <p:ext uri="{BB962C8B-B14F-4D97-AF65-F5344CB8AC3E}">
        <p14:creationId xmlns:p14="http://schemas.microsoft.com/office/powerpoint/2010/main" val="1446432740"/>
      </p:ext>
    </p:extLst>
  </p:cSld>
</p:sld>
</file>

<file path=ppt/slides/slide2.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908D0E-87E1-4DA8-8711-DE80A6D05C7F}"/>
              </a:ext>
            </a:extLst>
          </p:cNvPr>
          <p:cNvSpPr>
            <a:spLocks xmlns:a="http://schemas.openxmlformats.org/drawingml/2006/main" noGrp="1"/>
          </p:cNvSpPr>
          <p:nvPr/>
        </p:nvSpPr>
        <p:spPr>
          <a:xfrm xmlns:a="http://schemas.openxmlformats.org/drawingml/2006/main">
            <a:off x="685800" y="609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32A35"/>
                </a:solidFill>
                <a:latin typeface="Helvetica Neue"/>
                <a:ea typeface="Helvetica Neue"/>
                <a:cs typeface="Helvetica Neue"/>
              </a:defRPr>
            </a:defPPr>
            <a:lvl1pPr>
              <a:buNone/>
              <a:defRPr sz="3450" b="1">
                <a:solidFill>
                  <a:srgbClr val="132A35"/>
                </a:solidFill>
                <a:latin typeface="Helvetica Neue"/>
                <a:ea typeface="Helvetica Neue"/>
                <a:cs typeface="Helvetica Neue"/>
              </a:defRPr>
            </a:lvl1pPr>
            <a:lvl2pPr>
              <a:buNone/>
              <a:defRPr sz="3450" b="1">
                <a:solidFill>
                  <a:srgbClr val="132A35"/>
                </a:solidFill>
                <a:latin typeface="Helvetica Neue"/>
                <a:ea typeface="Helvetica Neue"/>
                <a:cs typeface="Helvetica Neue"/>
              </a:defRPr>
            </a:lvl2pPr>
            <a:lvl3pPr>
              <a:buNone/>
              <a:defRPr sz="3450" b="1">
                <a:solidFill>
                  <a:srgbClr val="132A35"/>
                </a:solidFill>
                <a:latin typeface="Helvetica Neue"/>
                <a:ea typeface="Helvetica Neue"/>
                <a:cs typeface="Helvetica Neue"/>
              </a:defRPr>
            </a:lvl3pPr>
            <a:lvl4pPr>
              <a:buNone/>
              <a:defRPr sz="3450" b="1">
                <a:solidFill>
                  <a:srgbClr val="132A35"/>
                </a:solidFill>
                <a:latin typeface="Helvetica Neue"/>
                <a:ea typeface="Helvetica Neue"/>
                <a:cs typeface="Helvetica Neue"/>
              </a:defRPr>
            </a:lvl4pPr>
            <a:lvl5pPr>
              <a:buNone/>
              <a:defRPr sz="3450" b="1">
                <a:solidFill>
                  <a:srgbClr val="132A35"/>
                </a:solidFill>
                <a:latin typeface="Helvetica Neue"/>
                <a:ea typeface="Helvetica Neue"/>
                <a:cs typeface="Helvetica Neue"/>
              </a:defRPr>
            </a:lvl5pPr>
            <a:lvl6pPr>
              <a:buNone/>
              <a:defRPr sz="3450" b="1">
                <a:solidFill>
                  <a:srgbClr val="132A35"/>
                </a:solidFill>
                <a:latin typeface="Helvetica Neue"/>
                <a:ea typeface="Helvetica Neue"/>
                <a:cs typeface="Helvetica Neue"/>
              </a:defRPr>
            </a:lvl6pPr>
            <a:lvl7pPr>
              <a:buNone/>
              <a:defRPr sz="3450" b="1">
                <a:solidFill>
                  <a:srgbClr val="132A35"/>
                </a:solidFill>
                <a:latin typeface="Helvetica Neue"/>
                <a:ea typeface="Helvetica Neue"/>
                <a:cs typeface="Helvetica Neue"/>
              </a:defRPr>
            </a:lvl7pPr>
            <a:lvl8pPr>
              <a:buNone/>
              <a:defRPr sz="3450" b="1">
                <a:solidFill>
                  <a:srgbClr val="132A35"/>
                </a:solidFill>
                <a:latin typeface="Helvetica Neue"/>
                <a:ea typeface="Helvetica Neue"/>
                <a:cs typeface="Helvetica Neue"/>
              </a:defRPr>
            </a:lvl8pPr>
            <a:lvl9pPr>
              <a:buNone/>
              <a:defRPr sz="3450" b="1">
                <a:solidFill>
                  <a:srgbClr val="132A35"/>
                </a:solidFill>
                <a:latin typeface="Helvetica Neue"/>
                <a:ea typeface="Helvetica Neue"/>
                <a:cs typeface="Helvetica Neue"/>
              </a:defRPr>
            </a:lvl9pPr>
          </a:lstStyle>
          <a:p xmlns:a="http://schemas.openxmlformats.org/drawingml/2006/main">
            <a:pPr>
              <a:buNone/>
              <a:defRPr sz="3450" b="1">
                <a:solidFill>
                  <a:srgbClr val="132A35"/>
                </a:solidFill>
                <a:latin typeface="Helvetica Neue"/>
                <a:ea typeface="Helvetica Neue"/>
                <a:cs typeface="Helvetica Neue"/>
              </a:defRPr>
            </a:pPr>
            <a:r>
              <a:rPr sz="3450" b="1">
                <a:solidFill>
                  <a:srgbClr val="132A35"/>
                </a:solidFill>
                <a:latin typeface="Helvetica Neue"/>
                <a:ea typeface="Helvetica Neue"/>
                <a:cs typeface="Helvetica Neue"/>
              </a:rPr>
              <a:t>Why this candidate</a:t>
            </a:r>
          </a:p>
        </p:txBody>
      </p:sp>
      <p:sp>
        <p:nvSpPr>
          <p:cNvPr id="2" name="">
            <a:extLst xmlns:a="http://schemas.openxmlformats.org/drawingml/2006/main">
              <a:ext uri="{FF2B5EF4-FFF2-40B4-BE49-F238E27FC236}">
                <a16:creationId xmlns:a16="http://schemas.microsoft.com/office/drawing/2014/main" id="{E5DB1FBF-560B-4DA1-B7F7-C8D125659586}"/>
              </a:ext>
            </a:extLst>
          </p:cNvPr>
          <p:cNvSpPr>
            <a:spLocks xmlns:a="http://schemas.openxmlformats.org/drawingml/2006/main" noGrp="1"/>
          </p:cNvSpPr>
          <p:nvPr/>
        </p:nvSpPr>
        <p:spPr>
          <a:xfrm xmlns:a="http://schemas.openxmlformats.org/drawingml/2006/main">
            <a:off x="685800" y="223837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Nicotinic acid can raise NAD through NAPRT.</a:t>
            </a:r>
          </a:p>
        </p:txBody>
      </p:sp>
      <p:sp>
        <p:nvSpPr>
          <p:cNvPr id="3" name="">
            <a:extLst xmlns:a="http://schemas.openxmlformats.org/drawingml/2006/main">
              <a:ext uri="{FF2B5EF4-FFF2-40B4-BE49-F238E27FC236}">
                <a16:creationId xmlns:a16="http://schemas.microsoft.com/office/drawing/2014/main" id="{3C258EF2-456A-4A27-9073-A5961DA86F76}"/>
              </a:ext>
            </a:extLst>
          </p:cNvPr>
          <p:cNvSpPr>
            <a:spLocks xmlns:a="http://schemas.openxmlformats.org/drawingml/2006/main" noGrp="1"/>
          </p:cNvSpPr>
          <p:nvPr/>
        </p:nvSpPr>
        <p:spPr>
          <a:xfrm xmlns:a="http://schemas.openxmlformats.org/drawingml/2006/main">
            <a:off x="685800" y="31432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NMN and genetic SIRT2 studies support BUBR1 regulation.</a:t>
            </a:r>
          </a:p>
        </p:txBody>
      </p:sp>
      <p:sp>
        <p:nvSpPr>
          <p:cNvPr id="4" name="">
            <a:extLst xmlns:a="http://schemas.openxmlformats.org/drawingml/2006/main">
              <a:ext uri="{FF2B5EF4-FFF2-40B4-BE49-F238E27FC236}">
                <a16:creationId xmlns:a16="http://schemas.microsoft.com/office/drawing/2014/main" id="{0A26282C-C9A0-4B0E-B8F5-28FE0F238DAD}"/>
              </a:ext>
            </a:extLst>
          </p:cNvPr>
          <p:cNvSpPr>
            <a:spLocks xmlns:a="http://schemas.openxmlformats.org/drawingml/2006/main" noGrp="1"/>
          </p:cNvSpPr>
          <p:nvPr/>
        </p:nvSpPr>
        <p:spPr>
          <a:xfrm xmlns:a="http://schemas.openxmlformats.org/drawingml/2006/main">
            <a:off x="685800" y="404812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Genetic BUBR1 restoration supports functional testing.</a:t>
            </a:r>
          </a:p>
        </p:txBody>
      </p:sp>
      <p:sp>
        <p:nvSpPr>
          <p:cNvPr id="5" name="">
            <a:extLst xmlns:a="http://schemas.openxmlformats.org/drawingml/2006/main">
              <a:ext uri="{FF2B5EF4-FFF2-40B4-BE49-F238E27FC236}">
                <a16:creationId xmlns:a16="http://schemas.microsoft.com/office/drawing/2014/main" id="{C8F5A6B3-0DA8-4054-BC8A-064F100EF9C2}"/>
              </a:ext>
            </a:extLst>
          </p:cNvPr>
          <p:cNvSpPr>
            <a:spLocks xmlns:a="http://schemas.openxmlformats.org/drawingml/2006/main" noGrp="1"/>
          </p:cNvSpPr>
          <p:nvPr/>
        </p:nvSpPr>
        <p:spPr>
          <a:xfrm xmlns:a="http://schemas.openxmlformats.org/drawingml/2006/main">
            <a:off x="685800" y="5905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86B69"/>
                </a:solidFill>
                <a:latin typeface="Helvetica Neue"/>
                <a:ea typeface="Helvetica Neue"/>
                <a:cs typeface="Helvetica Neue"/>
              </a:defRPr>
            </a:defPPr>
            <a:lvl1pPr>
              <a:buNone/>
              <a:defRPr sz="1800" b="0">
                <a:solidFill>
                  <a:srgbClr val="486B69"/>
                </a:solidFill>
                <a:latin typeface="Helvetica Neue"/>
                <a:ea typeface="Helvetica Neue"/>
                <a:cs typeface="Helvetica Neue"/>
              </a:defRPr>
            </a:lvl1pPr>
            <a:lvl2pPr>
              <a:buNone/>
              <a:defRPr sz="1800" b="0">
                <a:solidFill>
                  <a:srgbClr val="486B69"/>
                </a:solidFill>
                <a:latin typeface="Helvetica Neue"/>
                <a:ea typeface="Helvetica Neue"/>
                <a:cs typeface="Helvetica Neue"/>
              </a:defRPr>
            </a:lvl2pPr>
            <a:lvl3pPr>
              <a:buNone/>
              <a:defRPr sz="1800" b="0">
                <a:solidFill>
                  <a:srgbClr val="486B69"/>
                </a:solidFill>
                <a:latin typeface="Helvetica Neue"/>
                <a:ea typeface="Helvetica Neue"/>
                <a:cs typeface="Helvetica Neue"/>
              </a:defRPr>
            </a:lvl3pPr>
            <a:lvl4pPr>
              <a:buNone/>
              <a:defRPr sz="1800" b="0">
                <a:solidFill>
                  <a:srgbClr val="486B69"/>
                </a:solidFill>
                <a:latin typeface="Helvetica Neue"/>
                <a:ea typeface="Helvetica Neue"/>
                <a:cs typeface="Helvetica Neue"/>
              </a:defRPr>
            </a:lvl4pPr>
            <a:lvl5pPr>
              <a:buNone/>
              <a:defRPr sz="1800" b="0">
                <a:solidFill>
                  <a:srgbClr val="486B69"/>
                </a:solidFill>
                <a:latin typeface="Helvetica Neue"/>
                <a:ea typeface="Helvetica Neue"/>
                <a:cs typeface="Helvetica Neue"/>
              </a:defRPr>
            </a:lvl5pPr>
            <a:lvl6pPr>
              <a:buNone/>
              <a:defRPr sz="1800" b="0">
                <a:solidFill>
                  <a:srgbClr val="486B69"/>
                </a:solidFill>
                <a:latin typeface="Helvetica Neue"/>
                <a:ea typeface="Helvetica Neue"/>
                <a:cs typeface="Helvetica Neue"/>
              </a:defRPr>
            </a:lvl6pPr>
            <a:lvl7pPr>
              <a:buNone/>
              <a:defRPr sz="1800" b="0">
                <a:solidFill>
                  <a:srgbClr val="486B69"/>
                </a:solidFill>
                <a:latin typeface="Helvetica Neue"/>
                <a:ea typeface="Helvetica Neue"/>
                <a:cs typeface="Helvetica Neue"/>
              </a:defRPr>
            </a:lvl7pPr>
            <a:lvl8pPr>
              <a:buNone/>
              <a:defRPr sz="1800" b="0">
                <a:solidFill>
                  <a:srgbClr val="486B69"/>
                </a:solidFill>
                <a:latin typeface="Helvetica Neue"/>
                <a:ea typeface="Helvetica Neue"/>
                <a:cs typeface="Helvetica Neue"/>
              </a:defRPr>
            </a:lvl8pPr>
            <a:lvl9pPr>
              <a:buNone/>
              <a:defRPr sz="1800" b="0">
                <a:solidFill>
                  <a:srgbClr val="486B69"/>
                </a:solidFill>
                <a:latin typeface="Helvetica Neue"/>
                <a:ea typeface="Helvetica Neue"/>
                <a:cs typeface="Helvetica Neue"/>
              </a:defRPr>
            </a:lvl9pPr>
          </a:lstStyle>
          <a:p xmlns:a="http://schemas.openxmlformats.org/drawingml/2006/main">
            <a:pPr>
              <a:buNone/>
              <a:defRPr sz="1800" b="0">
                <a:solidFill>
                  <a:srgbClr val="486B69"/>
                </a:solidFill>
                <a:latin typeface="Helvetica Neue"/>
                <a:ea typeface="Helvetica Neue"/>
                <a:cs typeface="Helvetica Neue"/>
              </a:defRPr>
            </a:pPr>
            <a:r>
              <a:rPr sz="1800" b="0">
                <a:solidFill>
                  <a:srgbClr val="486B69"/>
                </a:solidFill>
                <a:latin typeface="Helvetica Neue"/>
                <a:ea typeface="Helvetica Neue"/>
                <a:cs typeface="Helvetica Neue"/>
              </a:rPr>
              <a:t>The complete drug-to-function chain remains untested.</a:t>
            </a:r>
          </a:p>
        </p:txBody>
      </p:sp>
    </p:spTree>
    <p:extLst>
      <p:ext uri="{BB962C8B-B14F-4D97-AF65-F5344CB8AC3E}">
        <p14:creationId xmlns:p14="http://schemas.microsoft.com/office/powerpoint/2010/main" val="1126200115"/>
      </p:ext>
    </p:extLst>
  </p:cSld>
</p:sld>
</file>

<file path=ppt/slides/slide3.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FEE5BF4C-2DD7-436A-BF5C-2E96FE216C32}"/>
              </a:ext>
            </a:extLst>
          </p:cNvPr>
          <p:cNvSpPr>
            <a:spLocks xmlns:a="http://schemas.openxmlformats.org/drawingml/2006/main" noGrp="1"/>
          </p:cNvSpPr>
          <p:nvPr/>
        </p:nvSpPr>
        <p:spPr>
          <a:xfrm xmlns:a="http://schemas.openxmlformats.org/drawingml/2006/main">
            <a:off x="685800" y="609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32A35"/>
                </a:solidFill>
                <a:latin typeface="Helvetica Neue"/>
                <a:ea typeface="Helvetica Neue"/>
                <a:cs typeface="Helvetica Neue"/>
              </a:defRPr>
            </a:defPPr>
            <a:lvl1pPr>
              <a:buNone/>
              <a:defRPr sz="3450" b="1">
                <a:solidFill>
                  <a:srgbClr val="132A35"/>
                </a:solidFill>
                <a:latin typeface="Helvetica Neue"/>
                <a:ea typeface="Helvetica Neue"/>
                <a:cs typeface="Helvetica Neue"/>
              </a:defRPr>
            </a:lvl1pPr>
            <a:lvl2pPr>
              <a:buNone/>
              <a:defRPr sz="3450" b="1">
                <a:solidFill>
                  <a:srgbClr val="132A35"/>
                </a:solidFill>
                <a:latin typeface="Helvetica Neue"/>
                <a:ea typeface="Helvetica Neue"/>
                <a:cs typeface="Helvetica Neue"/>
              </a:defRPr>
            </a:lvl2pPr>
            <a:lvl3pPr>
              <a:buNone/>
              <a:defRPr sz="3450" b="1">
                <a:solidFill>
                  <a:srgbClr val="132A35"/>
                </a:solidFill>
                <a:latin typeface="Helvetica Neue"/>
                <a:ea typeface="Helvetica Neue"/>
                <a:cs typeface="Helvetica Neue"/>
              </a:defRPr>
            </a:lvl3pPr>
            <a:lvl4pPr>
              <a:buNone/>
              <a:defRPr sz="3450" b="1">
                <a:solidFill>
                  <a:srgbClr val="132A35"/>
                </a:solidFill>
                <a:latin typeface="Helvetica Neue"/>
                <a:ea typeface="Helvetica Neue"/>
                <a:cs typeface="Helvetica Neue"/>
              </a:defRPr>
            </a:lvl4pPr>
            <a:lvl5pPr>
              <a:buNone/>
              <a:defRPr sz="3450" b="1">
                <a:solidFill>
                  <a:srgbClr val="132A35"/>
                </a:solidFill>
                <a:latin typeface="Helvetica Neue"/>
                <a:ea typeface="Helvetica Neue"/>
                <a:cs typeface="Helvetica Neue"/>
              </a:defRPr>
            </a:lvl5pPr>
            <a:lvl6pPr>
              <a:buNone/>
              <a:defRPr sz="3450" b="1">
                <a:solidFill>
                  <a:srgbClr val="132A35"/>
                </a:solidFill>
                <a:latin typeface="Helvetica Neue"/>
                <a:ea typeface="Helvetica Neue"/>
                <a:cs typeface="Helvetica Neue"/>
              </a:defRPr>
            </a:lvl6pPr>
            <a:lvl7pPr>
              <a:buNone/>
              <a:defRPr sz="3450" b="1">
                <a:solidFill>
                  <a:srgbClr val="132A35"/>
                </a:solidFill>
                <a:latin typeface="Helvetica Neue"/>
                <a:ea typeface="Helvetica Neue"/>
                <a:cs typeface="Helvetica Neue"/>
              </a:defRPr>
            </a:lvl7pPr>
            <a:lvl8pPr>
              <a:buNone/>
              <a:defRPr sz="3450" b="1">
                <a:solidFill>
                  <a:srgbClr val="132A35"/>
                </a:solidFill>
                <a:latin typeface="Helvetica Neue"/>
                <a:ea typeface="Helvetica Neue"/>
                <a:cs typeface="Helvetica Neue"/>
              </a:defRPr>
            </a:lvl8pPr>
            <a:lvl9pPr>
              <a:buNone/>
              <a:defRPr sz="3450" b="1">
                <a:solidFill>
                  <a:srgbClr val="132A35"/>
                </a:solidFill>
                <a:latin typeface="Helvetica Neue"/>
                <a:ea typeface="Helvetica Neue"/>
                <a:cs typeface="Helvetica Neue"/>
              </a:defRPr>
            </a:lvl9pPr>
          </a:lstStyle>
          <a:p xmlns:a="http://schemas.openxmlformats.org/drawingml/2006/main">
            <a:pPr>
              <a:buNone/>
              <a:defRPr sz="3450" b="1">
                <a:solidFill>
                  <a:srgbClr val="132A35"/>
                </a:solidFill>
                <a:latin typeface="Helvetica Neue"/>
                <a:ea typeface="Helvetica Neue"/>
                <a:cs typeface="Helvetica Neue"/>
              </a:defRPr>
            </a:pPr>
            <a:r>
              <a:rPr sz="3450" b="1">
                <a:solidFill>
                  <a:srgbClr val="132A35"/>
                </a:solidFill>
                <a:latin typeface="Helvetica Neue"/>
                <a:ea typeface="Helvetica Neue"/>
                <a:cs typeface="Helvetica Neue"/>
              </a:rPr>
              <a:t>What my analysis found</a:t>
            </a:r>
          </a:p>
        </p:txBody>
      </p:sp>
      <p:sp>
        <p:nvSpPr>
          <p:cNvPr id="2" name="">
            <a:extLst xmlns:a="http://schemas.openxmlformats.org/drawingml/2006/main">
              <a:ext uri="{FF2B5EF4-FFF2-40B4-BE49-F238E27FC236}">
                <a16:creationId xmlns:a16="http://schemas.microsoft.com/office/drawing/2014/main" id="{52A5748C-2F56-4ABD-A3F1-11D3028EEC73}"/>
              </a:ext>
            </a:extLst>
          </p:cNvPr>
          <p:cNvSpPr>
            <a:spLocks xmlns:a="http://schemas.openxmlformats.org/drawingml/2006/main" noGrp="1"/>
          </p:cNvSpPr>
          <p:nvPr/>
        </p:nvSpPr>
        <p:spPr>
          <a:xfrm xmlns:a="http://schemas.openxmlformats.org/drawingml/2006/main">
            <a:off x="685800" y="223837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SIRT2 RNA rose in 4/4 patient pairs at month four.</a:t>
            </a:r>
          </a:p>
        </p:txBody>
      </p:sp>
      <p:sp>
        <p:nvSpPr>
          <p:cNvPr id="3" name="">
            <a:extLst xmlns:a="http://schemas.openxmlformats.org/drawingml/2006/main">
              <a:ext uri="{FF2B5EF4-FFF2-40B4-BE49-F238E27FC236}">
                <a16:creationId xmlns:a16="http://schemas.microsoft.com/office/drawing/2014/main" id="{FE2D3945-64F4-4D54-AEFE-3D9F6755AB80}"/>
              </a:ext>
            </a:extLst>
          </p:cNvPr>
          <p:cNvSpPr>
            <a:spLocks xmlns:a="http://schemas.openxmlformats.org/drawingml/2006/main" noGrp="1"/>
          </p:cNvSpPr>
          <p:nvPr/>
        </p:nvSpPr>
        <p:spPr>
          <a:xfrm xmlns:a="http://schemas.openxmlformats.org/drawingml/2006/main">
            <a:off x="685800" y="31432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The effect size was fragile; BUB1B RNA was too sparse.</a:t>
            </a:r>
          </a:p>
        </p:txBody>
      </p:sp>
      <p:sp>
        <p:nvSpPr>
          <p:cNvPr id="4" name="">
            <a:extLst xmlns:a="http://schemas.openxmlformats.org/drawingml/2006/main">
              <a:ext uri="{FF2B5EF4-FFF2-40B4-BE49-F238E27FC236}">
                <a16:creationId xmlns:a16="http://schemas.microsoft.com/office/drawing/2014/main" id="{F8FDB277-CE9B-432F-8903-950368EF2783}"/>
              </a:ext>
            </a:extLst>
          </p:cNvPr>
          <p:cNvSpPr>
            <a:spLocks xmlns:a="http://schemas.openxmlformats.org/drawingml/2006/main" noGrp="1"/>
          </p:cNvSpPr>
          <p:nvPr/>
        </p:nvSpPr>
        <p:spPr>
          <a:xfrm xmlns:a="http://schemas.openxmlformats.org/drawingml/2006/main">
            <a:off x="685800" y="404812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A different disease model; no MVA drug response measured.</a:t>
            </a:r>
          </a:p>
        </p:txBody>
      </p:sp>
      <p:sp>
        <p:nvSpPr>
          <p:cNvPr id="5" name="">
            <a:extLst xmlns:a="http://schemas.openxmlformats.org/drawingml/2006/main">
              <a:ext uri="{FF2B5EF4-FFF2-40B4-BE49-F238E27FC236}">
                <a16:creationId xmlns:a16="http://schemas.microsoft.com/office/drawing/2014/main" id="{3EED3B02-10D2-4B46-8579-9801958E9E7E}"/>
              </a:ext>
            </a:extLst>
          </p:cNvPr>
          <p:cNvSpPr>
            <a:spLocks xmlns:a="http://schemas.openxmlformats.org/drawingml/2006/main" noGrp="1"/>
          </p:cNvSpPr>
          <p:nvPr/>
        </p:nvSpPr>
        <p:spPr>
          <a:xfrm xmlns:a="http://schemas.openxmlformats.org/drawingml/2006/main">
            <a:off x="685800" y="5905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86B69"/>
                </a:solidFill>
                <a:latin typeface="Helvetica Neue"/>
                <a:ea typeface="Helvetica Neue"/>
                <a:cs typeface="Helvetica Neue"/>
              </a:defRPr>
            </a:defPPr>
            <a:lvl1pPr>
              <a:buNone/>
              <a:defRPr sz="1800" b="0">
                <a:solidFill>
                  <a:srgbClr val="486B69"/>
                </a:solidFill>
                <a:latin typeface="Helvetica Neue"/>
                <a:ea typeface="Helvetica Neue"/>
                <a:cs typeface="Helvetica Neue"/>
              </a:defRPr>
            </a:lvl1pPr>
            <a:lvl2pPr>
              <a:buNone/>
              <a:defRPr sz="1800" b="0">
                <a:solidFill>
                  <a:srgbClr val="486B69"/>
                </a:solidFill>
                <a:latin typeface="Helvetica Neue"/>
                <a:ea typeface="Helvetica Neue"/>
                <a:cs typeface="Helvetica Neue"/>
              </a:defRPr>
            </a:lvl2pPr>
            <a:lvl3pPr>
              <a:buNone/>
              <a:defRPr sz="1800" b="0">
                <a:solidFill>
                  <a:srgbClr val="486B69"/>
                </a:solidFill>
                <a:latin typeface="Helvetica Neue"/>
                <a:ea typeface="Helvetica Neue"/>
                <a:cs typeface="Helvetica Neue"/>
              </a:defRPr>
            </a:lvl3pPr>
            <a:lvl4pPr>
              <a:buNone/>
              <a:defRPr sz="1800" b="0">
                <a:solidFill>
                  <a:srgbClr val="486B69"/>
                </a:solidFill>
                <a:latin typeface="Helvetica Neue"/>
                <a:ea typeface="Helvetica Neue"/>
                <a:cs typeface="Helvetica Neue"/>
              </a:defRPr>
            </a:lvl4pPr>
            <a:lvl5pPr>
              <a:buNone/>
              <a:defRPr sz="1800" b="0">
                <a:solidFill>
                  <a:srgbClr val="486B69"/>
                </a:solidFill>
                <a:latin typeface="Helvetica Neue"/>
                <a:ea typeface="Helvetica Neue"/>
                <a:cs typeface="Helvetica Neue"/>
              </a:defRPr>
            </a:lvl5pPr>
            <a:lvl6pPr>
              <a:buNone/>
              <a:defRPr sz="1800" b="0">
                <a:solidFill>
                  <a:srgbClr val="486B69"/>
                </a:solidFill>
                <a:latin typeface="Helvetica Neue"/>
                <a:ea typeface="Helvetica Neue"/>
                <a:cs typeface="Helvetica Neue"/>
              </a:defRPr>
            </a:lvl6pPr>
            <a:lvl7pPr>
              <a:buNone/>
              <a:defRPr sz="1800" b="0">
                <a:solidFill>
                  <a:srgbClr val="486B69"/>
                </a:solidFill>
                <a:latin typeface="Helvetica Neue"/>
                <a:ea typeface="Helvetica Neue"/>
                <a:cs typeface="Helvetica Neue"/>
              </a:defRPr>
            </a:lvl7pPr>
            <a:lvl8pPr>
              <a:buNone/>
              <a:defRPr sz="1800" b="0">
                <a:solidFill>
                  <a:srgbClr val="486B69"/>
                </a:solidFill>
                <a:latin typeface="Helvetica Neue"/>
                <a:ea typeface="Helvetica Neue"/>
                <a:cs typeface="Helvetica Neue"/>
              </a:defRPr>
            </a:lvl8pPr>
            <a:lvl9pPr>
              <a:buNone/>
              <a:defRPr sz="1800" b="0">
                <a:solidFill>
                  <a:srgbClr val="486B69"/>
                </a:solidFill>
                <a:latin typeface="Helvetica Neue"/>
                <a:ea typeface="Helvetica Neue"/>
                <a:cs typeface="Helvetica Neue"/>
              </a:defRPr>
            </a:lvl9pPr>
          </a:lstStyle>
          <a:p xmlns:a="http://schemas.openxmlformats.org/drawingml/2006/main">
            <a:pPr>
              <a:buNone/>
              <a:defRPr sz="1800" b="0">
                <a:solidFill>
                  <a:srgbClr val="486B69"/>
                </a:solidFill>
                <a:latin typeface="Helvetica Neue"/>
                <a:ea typeface="Helvetica Neue"/>
                <a:cs typeface="Helvetica Neue"/>
              </a:defRPr>
            </a:pPr>
            <a:r>
              <a:rPr sz="1800" b="0">
                <a:solidFill>
                  <a:srgbClr val="486B69"/>
                </a:solidFill>
                <a:latin typeface="Helvetica Neue"/>
                <a:ea typeface="Helvetica Neue"/>
                <a:cs typeface="Helvetica Neue"/>
              </a:rPr>
              <a:t>Public niacin study: exploratory muscle RNA analysis</a:t>
            </a:r>
          </a:p>
        </p:txBody>
      </p:sp>
    </p:spTree>
    <p:extLst>
      <p:ext uri="{BB962C8B-B14F-4D97-AF65-F5344CB8AC3E}">
        <p14:creationId xmlns:p14="http://schemas.microsoft.com/office/powerpoint/2010/main" val="947863642"/>
      </p:ext>
    </p:extLst>
  </p:cSld>
</p:sld>
</file>

<file path=ppt/slides/slide4.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0582F11-E777-4E21-AE39-4DB5AD8E1A34}"/>
              </a:ext>
            </a:extLst>
          </p:cNvPr>
          <p:cNvSpPr>
            <a:spLocks xmlns:a="http://schemas.openxmlformats.org/drawingml/2006/main" noGrp="1"/>
          </p:cNvSpPr>
          <p:nvPr/>
        </p:nvSpPr>
        <p:spPr>
          <a:xfrm xmlns:a="http://schemas.openxmlformats.org/drawingml/2006/main">
            <a:off x="685800" y="609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32A35"/>
                </a:solidFill>
                <a:latin typeface="Helvetica Neue"/>
                <a:ea typeface="Helvetica Neue"/>
                <a:cs typeface="Helvetica Neue"/>
              </a:defRPr>
            </a:defPPr>
            <a:lvl1pPr>
              <a:buNone/>
              <a:defRPr sz="3450" b="1">
                <a:solidFill>
                  <a:srgbClr val="132A35"/>
                </a:solidFill>
                <a:latin typeface="Helvetica Neue"/>
                <a:ea typeface="Helvetica Neue"/>
                <a:cs typeface="Helvetica Neue"/>
              </a:defRPr>
            </a:lvl1pPr>
            <a:lvl2pPr>
              <a:buNone/>
              <a:defRPr sz="3450" b="1">
                <a:solidFill>
                  <a:srgbClr val="132A35"/>
                </a:solidFill>
                <a:latin typeface="Helvetica Neue"/>
                <a:ea typeface="Helvetica Neue"/>
                <a:cs typeface="Helvetica Neue"/>
              </a:defRPr>
            </a:lvl2pPr>
            <a:lvl3pPr>
              <a:buNone/>
              <a:defRPr sz="3450" b="1">
                <a:solidFill>
                  <a:srgbClr val="132A35"/>
                </a:solidFill>
                <a:latin typeface="Helvetica Neue"/>
                <a:ea typeface="Helvetica Neue"/>
                <a:cs typeface="Helvetica Neue"/>
              </a:defRPr>
            </a:lvl3pPr>
            <a:lvl4pPr>
              <a:buNone/>
              <a:defRPr sz="3450" b="1">
                <a:solidFill>
                  <a:srgbClr val="132A35"/>
                </a:solidFill>
                <a:latin typeface="Helvetica Neue"/>
                <a:ea typeface="Helvetica Neue"/>
                <a:cs typeface="Helvetica Neue"/>
              </a:defRPr>
            </a:lvl4pPr>
            <a:lvl5pPr>
              <a:buNone/>
              <a:defRPr sz="3450" b="1">
                <a:solidFill>
                  <a:srgbClr val="132A35"/>
                </a:solidFill>
                <a:latin typeface="Helvetica Neue"/>
                <a:ea typeface="Helvetica Neue"/>
                <a:cs typeface="Helvetica Neue"/>
              </a:defRPr>
            </a:lvl5pPr>
            <a:lvl6pPr>
              <a:buNone/>
              <a:defRPr sz="3450" b="1">
                <a:solidFill>
                  <a:srgbClr val="132A35"/>
                </a:solidFill>
                <a:latin typeface="Helvetica Neue"/>
                <a:ea typeface="Helvetica Neue"/>
                <a:cs typeface="Helvetica Neue"/>
              </a:defRPr>
            </a:lvl6pPr>
            <a:lvl7pPr>
              <a:buNone/>
              <a:defRPr sz="3450" b="1">
                <a:solidFill>
                  <a:srgbClr val="132A35"/>
                </a:solidFill>
                <a:latin typeface="Helvetica Neue"/>
                <a:ea typeface="Helvetica Neue"/>
                <a:cs typeface="Helvetica Neue"/>
              </a:defRPr>
            </a:lvl7pPr>
            <a:lvl8pPr>
              <a:buNone/>
              <a:defRPr sz="3450" b="1">
                <a:solidFill>
                  <a:srgbClr val="132A35"/>
                </a:solidFill>
                <a:latin typeface="Helvetica Neue"/>
                <a:ea typeface="Helvetica Neue"/>
                <a:cs typeface="Helvetica Neue"/>
              </a:defRPr>
            </a:lvl8pPr>
            <a:lvl9pPr>
              <a:buNone/>
              <a:defRPr sz="3450" b="1">
                <a:solidFill>
                  <a:srgbClr val="132A35"/>
                </a:solidFill>
                <a:latin typeface="Helvetica Neue"/>
                <a:ea typeface="Helvetica Neue"/>
                <a:cs typeface="Helvetica Neue"/>
              </a:defRPr>
            </a:lvl9pPr>
          </a:lstStyle>
          <a:p xmlns:a="http://schemas.openxmlformats.org/drawingml/2006/main">
            <a:pPr>
              <a:buNone/>
              <a:defRPr sz="3450" b="1">
                <a:solidFill>
                  <a:srgbClr val="132A35"/>
                </a:solidFill>
                <a:latin typeface="Helvetica Neue"/>
                <a:ea typeface="Helvetica Neue"/>
                <a:cs typeface="Helvetica Neue"/>
              </a:defRPr>
            </a:pPr>
            <a:r>
              <a:rPr sz="3450" b="1">
                <a:solidFill>
                  <a:srgbClr val="132A35"/>
                </a:solidFill>
                <a:latin typeface="Helvetica Neue"/>
                <a:ea typeface="Helvetica Neue"/>
                <a:cs typeface="Helvetica Neue"/>
              </a:rPr>
              <a:t>The decisive experiment</a:t>
            </a:r>
          </a:p>
        </p:txBody>
      </p:sp>
      <p:sp>
        <p:nvSpPr>
          <p:cNvPr id="2" name="">
            <a:extLst xmlns:a="http://schemas.openxmlformats.org/drawingml/2006/main">
              <a:ext uri="{FF2B5EF4-FFF2-40B4-BE49-F238E27FC236}">
                <a16:creationId xmlns:a16="http://schemas.microsoft.com/office/drawing/2014/main" id="{E7F136AC-39B5-491D-863C-160A2F81EE99}"/>
              </a:ext>
            </a:extLst>
          </p:cNvPr>
          <p:cNvSpPr>
            <a:spLocks xmlns:a="http://schemas.openxmlformats.org/drawingml/2006/main" noGrp="1"/>
          </p:cNvSpPr>
          <p:nvPr/>
        </p:nvSpPr>
        <p:spPr>
          <a:xfrm xmlns:a="http://schemas.openxmlformats.org/drawingml/2006/main">
            <a:off x="685800" y="223837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1   Establish the defect and wild-type restoration control.</a:t>
            </a:r>
          </a:p>
        </p:txBody>
      </p:sp>
      <p:sp>
        <p:nvSpPr>
          <p:cNvPr id="3" name="">
            <a:extLst xmlns:a="http://schemas.openxmlformats.org/drawingml/2006/main">
              <a:ext uri="{FF2B5EF4-FFF2-40B4-BE49-F238E27FC236}">
                <a16:creationId xmlns:a16="http://schemas.microsoft.com/office/drawing/2014/main" id="{D87852BC-0849-4B34-B00A-16300DD1FED3}"/>
              </a:ext>
            </a:extLst>
          </p:cNvPr>
          <p:cNvSpPr>
            <a:spLocks xmlns:a="http://schemas.openxmlformats.org/drawingml/2006/main" noGrp="1"/>
          </p:cNvSpPr>
          <p:nvPr/>
        </p:nvSpPr>
        <p:spPr>
          <a:xfrm xmlns:a="http://schemas.openxmlformats.org/drawingml/2006/main">
            <a:off x="685800" y="31432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2   Verify NAD engagement and the BUBR1 response.</a:t>
            </a:r>
          </a:p>
        </p:txBody>
      </p:sp>
      <p:sp>
        <p:nvSpPr>
          <p:cNvPr id="4" name="">
            <a:extLst xmlns:a="http://schemas.openxmlformats.org/drawingml/2006/main">
              <a:ext uri="{FF2B5EF4-FFF2-40B4-BE49-F238E27FC236}">
                <a16:creationId xmlns:a16="http://schemas.microsoft.com/office/drawing/2014/main" id="{54DCAFDD-329E-439F-81C4-BBC449050028}"/>
              </a:ext>
            </a:extLst>
          </p:cNvPr>
          <p:cNvSpPr>
            <a:spLocks xmlns:a="http://schemas.openxmlformats.org/drawingml/2006/main" noGrp="1"/>
          </p:cNvSpPr>
          <p:nvPr/>
        </p:nvSpPr>
        <p:spPr>
          <a:xfrm xmlns:a="http://schemas.openxmlformats.org/drawingml/2006/main">
            <a:off x="685800" y="404812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3   Test division fidelity with independent replicates.</a:t>
            </a:r>
          </a:p>
        </p:txBody>
      </p:sp>
      <p:sp>
        <p:nvSpPr>
          <p:cNvPr id="5" name="">
            <a:extLst xmlns:a="http://schemas.openxmlformats.org/drawingml/2006/main">
              <a:ext uri="{FF2B5EF4-FFF2-40B4-BE49-F238E27FC236}">
                <a16:creationId xmlns:a16="http://schemas.microsoft.com/office/drawing/2014/main" id="{678C90B4-238E-4882-ACD5-F4DDF46D7922}"/>
              </a:ext>
            </a:extLst>
          </p:cNvPr>
          <p:cNvSpPr>
            <a:spLocks xmlns:a="http://schemas.openxmlformats.org/drawingml/2006/main" noGrp="1"/>
          </p:cNvSpPr>
          <p:nvPr/>
        </p:nvSpPr>
        <p:spPr>
          <a:xfrm xmlns:a="http://schemas.openxmlformats.org/drawingml/2006/main">
            <a:off x="685800" y="5905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86B69"/>
                </a:solidFill>
                <a:latin typeface="Helvetica Neue"/>
                <a:ea typeface="Helvetica Neue"/>
                <a:cs typeface="Helvetica Neue"/>
              </a:defRPr>
            </a:defPPr>
            <a:lvl1pPr>
              <a:buNone/>
              <a:defRPr sz="1800" b="0">
                <a:solidFill>
                  <a:srgbClr val="486B69"/>
                </a:solidFill>
                <a:latin typeface="Helvetica Neue"/>
                <a:ea typeface="Helvetica Neue"/>
                <a:cs typeface="Helvetica Neue"/>
              </a:defRPr>
            </a:lvl1pPr>
            <a:lvl2pPr>
              <a:buNone/>
              <a:defRPr sz="1800" b="0">
                <a:solidFill>
                  <a:srgbClr val="486B69"/>
                </a:solidFill>
                <a:latin typeface="Helvetica Neue"/>
                <a:ea typeface="Helvetica Neue"/>
                <a:cs typeface="Helvetica Neue"/>
              </a:defRPr>
            </a:lvl2pPr>
            <a:lvl3pPr>
              <a:buNone/>
              <a:defRPr sz="1800" b="0">
                <a:solidFill>
                  <a:srgbClr val="486B69"/>
                </a:solidFill>
                <a:latin typeface="Helvetica Neue"/>
                <a:ea typeface="Helvetica Neue"/>
                <a:cs typeface="Helvetica Neue"/>
              </a:defRPr>
            </a:lvl3pPr>
            <a:lvl4pPr>
              <a:buNone/>
              <a:defRPr sz="1800" b="0">
                <a:solidFill>
                  <a:srgbClr val="486B69"/>
                </a:solidFill>
                <a:latin typeface="Helvetica Neue"/>
                <a:ea typeface="Helvetica Neue"/>
                <a:cs typeface="Helvetica Neue"/>
              </a:defRPr>
            </a:lvl4pPr>
            <a:lvl5pPr>
              <a:buNone/>
              <a:defRPr sz="1800" b="0">
                <a:solidFill>
                  <a:srgbClr val="486B69"/>
                </a:solidFill>
                <a:latin typeface="Helvetica Neue"/>
                <a:ea typeface="Helvetica Neue"/>
                <a:cs typeface="Helvetica Neue"/>
              </a:defRPr>
            </a:lvl5pPr>
            <a:lvl6pPr>
              <a:buNone/>
              <a:defRPr sz="1800" b="0">
                <a:solidFill>
                  <a:srgbClr val="486B69"/>
                </a:solidFill>
                <a:latin typeface="Helvetica Neue"/>
                <a:ea typeface="Helvetica Neue"/>
                <a:cs typeface="Helvetica Neue"/>
              </a:defRPr>
            </a:lvl6pPr>
            <a:lvl7pPr>
              <a:buNone/>
              <a:defRPr sz="1800" b="0">
                <a:solidFill>
                  <a:srgbClr val="486B69"/>
                </a:solidFill>
                <a:latin typeface="Helvetica Neue"/>
                <a:ea typeface="Helvetica Neue"/>
                <a:cs typeface="Helvetica Neue"/>
              </a:defRPr>
            </a:lvl7pPr>
            <a:lvl8pPr>
              <a:buNone/>
              <a:defRPr sz="1800" b="0">
                <a:solidFill>
                  <a:srgbClr val="486B69"/>
                </a:solidFill>
                <a:latin typeface="Helvetica Neue"/>
                <a:ea typeface="Helvetica Neue"/>
                <a:cs typeface="Helvetica Neue"/>
              </a:defRPr>
            </a:lvl8pPr>
            <a:lvl9pPr>
              <a:buNone/>
              <a:defRPr sz="1800" b="0">
                <a:solidFill>
                  <a:srgbClr val="486B69"/>
                </a:solidFill>
                <a:latin typeface="Helvetica Neue"/>
                <a:ea typeface="Helvetica Neue"/>
                <a:cs typeface="Helvetica Neue"/>
              </a:defRPr>
            </a:lvl9pPr>
          </a:lstStyle>
          <a:p xmlns:a="http://schemas.openxmlformats.org/drawingml/2006/main">
            <a:pPr>
              <a:buNone/>
              <a:defRPr sz="1800" b="0">
                <a:solidFill>
                  <a:srgbClr val="486B69"/>
                </a:solidFill>
                <a:latin typeface="Helvetica Neue"/>
                <a:ea typeface="Helvetica Neue"/>
                <a:cs typeface="Helvetica Neue"/>
              </a:defRPr>
            </a:pPr>
            <a:r>
              <a:rPr sz="1800" b="0">
                <a:solidFill>
                  <a:srgbClr val="486B69"/>
                </a:solidFill>
                <a:latin typeface="Helvetica Neue"/>
                <a:ea typeface="Helvetica Neue"/>
                <a:cs typeface="Helvetica Neue"/>
              </a:rPr>
              <a:t>Report viability, checkpoint recovery and absolute cell output.</a:t>
            </a:r>
          </a:p>
        </p:txBody>
      </p:sp>
    </p:spTree>
    <p:extLst>
      <p:ext uri="{BB962C8B-B14F-4D97-AF65-F5344CB8AC3E}">
        <p14:creationId xmlns:p14="http://schemas.microsoft.com/office/powerpoint/2010/main" val="1556810062"/>
      </p:ext>
    </p:extLst>
  </p:cSld>
</p:sld>
</file>

<file path=ppt/slides/slide5.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B2B55A-904A-4351-A672-CD8403368ADA}"/>
              </a:ext>
            </a:extLst>
          </p:cNvPr>
          <p:cNvSpPr>
            <a:spLocks xmlns:a="http://schemas.openxmlformats.org/drawingml/2006/main" noGrp="1"/>
          </p:cNvSpPr>
          <p:nvPr/>
        </p:nvSpPr>
        <p:spPr>
          <a:xfrm xmlns:a="http://schemas.openxmlformats.org/drawingml/2006/main">
            <a:off x="685800" y="609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32A35"/>
                </a:solidFill>
                <a:latin typeface="Helvetica Neue"/>
                <a:ea typeface="Helvetica Neue"/>
                <a:cs typeface="Helvetica Neue"/>
              </a:defRPr>
            </a:defPPr>
            <a:lvl1pPr>
              <a:buNone/>
              <a:defRPr sz="3450" b="1">
                <a:solidFill>
                  <a:srgbClr val="132A35"/>
                </a:solidFill>
                <a:latin typeface="Helvetica Neue"/>
                <a:ea typeface="Helvetica Neue"/>
                <a:cs typeface="Helvetica Neue"/>
              </a:defRPr>
            </a:lvl1pPr>
            <a:lvl2pPr>
              <a:buNone/>
              <a:defRPr sz="3450" b="1">
                <a:solidFill>
                  <a:srgbClr val="132A35"/>
                </a:solidFill>
                <a:latin typeface="Helvetica Neue"/>
                <a:ea typeface="Helvetica Neue"/>
                <a:cs typeface="Helvetica Neue"/>
              </a:defRPr>
            </a:lvl2pPr>
            <a:lvl3pPr>
              <a:buNone/>
              <a:defRPr sz="3450" b="1">
                <a:solidFill>
                  <a:srgbClr val="132A35"/>
                </a:solidFill>
                <a:latin typeface="Helvetica Neue"/>
                <a:ea typeface="Helvetica Neue"/>
                <a:cs typeface="Helvetica Neue"/>
              </a:defRPr>
            </a:lvl3pPr>
            <a:lvl4pPr>
              <a:buNone/>
              <a:defRPr sz="3450" b="1">
                <a:solidFill>
                  <a:srgbClr val="132A35"/>
                </a:solidFill>
                <a:latin typeface="Helvetica Neue"/>
                <a:ea typeface="Helvetica Neue"/>
                <a:cs typeface="Helvetica Neue"/>
              </a:defRPr>
            </a:lvl4pPr>
            <a:lvl5pPr>
              <a:buNone/>
              <a:defRPr sz="3450" b="1">
                <a:solidFill>
                  <a:srgbClr val="132A35"/>
                </a:solidFill>
                <a:latin typeface="Helvetica Neue"/>
                <a:ea typeface="Helvetica Neue"/>
                <a:cs typeface="Helvetica Neue"/>
              </a:defRPr>
            </a:lvl5pPr>
            <a:lvl6pPr>
              <a:buNone/>
              <a:defRPr sz="3450" b="1">
                <a:solidFill>
                  <a:srgbClr val="132A35"/>
                </a:solidFill>
                <a:latin typeface="Helvetica Neue"/>
                <a:ea typeface="Helvetica Neue"/>
                <a:cs typeface="Helvetica Neue"/>
              </a:defRPr>
            </a:lvl6pPr>
            <a:lvl7pPr>
              <a:buNone/>
              <a:defRPr sz="3450" b="1">
                <a:solidFill>
                  <a:srgbClr val="132A35"/>
                </a:solidFill>
                <a:latin typeface="Helvetica Neue"/>
                <a:ea typeface="Helvetica Neue"/>
                <a:cs typeface="Helvetica Neue"/>
              </a:defRPr>
            </a:lvl7pPr>
            <a:lvl8pPr>
              <a:buNone/>
              <a:defRPr sz="3450" b="1">
                <a:solidFill>
                  <a:srgbClr val="132A35"/>
                </a:solidFill>
                <a:latin typeface="Helvetica Neue"/>
                <a:ea typeface="Helvetica Neue"/>
                <a:cs typeface="Helvetica Neue"/>
              </a:defRPr>
            </a:lvl8pPr>
            <a:lvl9pPr>
              <a:buNone/>
              <a:defRPr sz="3450" b="1">
                <a:solidFill>
                  <a:srgbClr val="132A35"/>
                </a:solidFill>
                <a:latin typeface="Helvetica Neue"/>
                <a:ea typeface="Helvetica Neue"/>
                <a:cs typeface="Helvetica Neue"/>
              </a:defRPr>
            </a:lvl9pPr>
          </a:lstStyle>
          <a:p xmlns:a="http://schemas.openxmlformats.org/drawingml/2006/main">
            <a:pPr>
              <a:buNone/>
              <a:defRPr sz="3450" b="1">
                <a:solidFill>
                  <a:srgbClr val="132A35"/>
                </a:solidFill>
                <a:latin typeface="Helvetica Neue"/>
                <a:ea typeface="Helvetica Neue"/>
                <a:cs typeface="Helvetica Neue"/>
              </a:defRPr>
            </a:pPr>
            <a:r>
              <a:rPr sz="3450" b="1">
                <a:solidFill>
                  <a:srgbClr val="132A35"/>
                </a:solidFill>
                <a:latin typeface="Helvetica Neue"/>
                <a:ea typeface="Helvetica Neue"/>
                <a:cs typeface="Helvetica Neue"/>
              </a:rPr>
              <a:t>Potential benefit and limits</a:t>
            </a:r>
          </a:p>
        </p:txBody>
      </p:sp>
      <p:sp>
        <p:nvSpPr>
          <p:cNvPr id="2" name="">
            <a:extLst xmlns:a="http://schemas.openxmlformats.org/drawingml/2006/main">
              <a:ext uri="{FF2B5EF4-FFF2-40B4-BE49-F238E27FC236}">
                <a16:creationId xmlns:a16="http://schemas.microsoft.com/office/drawing/2014/main" id="{563E7864-EB51-4F59-9BBD-8182CBBC17F0}"/>
              </a:ext>
            </a:extLst>
          </p:cNvPr>
          <p:cNvSpPr>
            <a:spLocks xmlns:a="http://schemas.openxmlformats.org/drawingml/2006/main" noGrp="1"/>
          </p:cNvSpPr>
          <p:nvPr/>
        </p:nvSpPr>
        <p:spPr>
          <a:xfrm xmlns:a="http://schemas.openxmlformats.org/drawingml/2006/main">
            <a:off x="685800" y="223837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Possible benefit where useful BUBR1 function remains.</a:t>
            </a:r>
          </a:p>
        </p:txBody>
      </p:sp>
      <p:sp>
        <p:nvSpPr>
          <p:cNvPr id="3" name="">
            <a:extLst xmlns:a="http://schemas.openxmlformats.org/drawingml/2006/main">
              <a:ext uri="{FF2B5EF4-FFF2-40B4-BE49-F238E27FC236}">
                <a16:creationId xmlns:a16="http://schemas.microsoft.com/office/drawing/2014/main" id="{53A7F223-8303-47A4-88A9-CC665C48AAED}"/>
              </a:ext>
            </a:extLst>
          </p:cNvPr>
          <p:cNvSpPr>
            <a:spLocks xmlns:a="http://schemas.openxmlformats.org/drawingml/2006/main" noGrp="1"/>
          </p:cNvSpPr>
          <p:nvPr/>
        </p:nvSpPr>
        <p:spPr>
          <a:xfrm xmlns:a="http://schemas.openxmlformats.org/drawingml/2006/main">
            <a:off x="685800" y="31432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Existing drug; effective exposure and pediatric safety open.</a:t>
            </a:r>
          </a:p>
        </p:txBody>
      </p:sp>
      <p:sp>
        <p:nvSpPr>
          <p:cNvPr id="4" name="">
            <a:extLst xmlns:a="http://schemas.openxmlformats.org/drawingml/2006/main">
              <a:ext uri="{FF2B5EF4-FFF2-40B4-BE49-F238E27FC236}">
                <a16:creationId xmlns:a16="http://schemas.microsoft.com/office/drawing/2014/main" id="{EE5DFDD9-FB2A-4B7C-8E44-4D2D3E5AE886}"/>
              </a:ext>
            </a:extLst>
          </p:cNvPr>
          <p:cNvSpPr>
            <a:spLocks xmlns:a="http://schemas.openxmlformats.org/drawingml/2006/main" noGrp="1"/>
          </p:cNvSpPr>
          <p:nvPr/>
        </p:nvSpPr>
        <p:spPr>
          <a:xfrm xmlns:a="http://schemas.openxmlformats.org/drawingml/2006/main">
            <a:off x="685800" y="404812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Chromosome fidelity and tumor safety need separate tests.</a:t>
            </a:r>
          </a:p>
        </p:txBody>
      </p:sp>
      <p:sp>
        <p:nvSpPr>
          <p:cNvPr id="5" name="">
            <a:extLst xmlns:a="http://schemas.openxmlformats.org/drawingml/2006/main">
              <a:ext uri="{FF2B5EF4-FFF2-40B4-BE49-F238E27FC236}">
                <a16:creationId xmlns:a16="http://schemas.microsoft.com/office/drawing/2014/main" id="{403D55D8-9115-469B-8100-BE8E9943525F}"/>
              </a:ext>
            </a:extLst>
          </p:cNvPr>
          <p:cNvSpPr>
            <a:spLocks xmlns:a="http://schemas.openxmlformats.org/drawingml/2006/main" noGrp="1"/>
          </p:cNvSpPr>
          <p:nvPr/>
        </p:nvSpPr>
        <p:spPr>
          <a:xfrm xmlns:a="http://schemas.openxmlformats.org/drawingml/2006/main">
            <a:off x="685800" y="5905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86B69"/>
                </a:solidFill>
                <a:latin typeface="Helvetica Neue"/>
                <a:ea typeface="Helvetica Neue"/>
                <a:cs typeface="Helvetica Neue"/>
              </a:defRPr>
            </a:defPPr>
            <a:lvl1pPr>
              <a:buNone/>
              <a:defRPr sz="1800" b="0">
                <a:solidFill>
                  <a:srgbClr val="486B69"/>
                </a:solidFill>
                <a:latin typeface="Helvetica Neue"/>
                <a:ea typeface="Helvetica Neue"/>
                <a:cs typeface="Helvetica Neue"/>
              </a:defRPr>
            </a:lvl1pPr>
            <a:lvl2pPr>
              <a:buNone/>
              <a:defRPr sz="1800" b="0">
                <a:solidFill>
                  <a:srgbClr val="486B69"/>
                </a:solidFill>
                <a:latin typeface="Helvetica Neue"/>
                <a:ea typeface="Helvetica Neue"/>
                <a:cs typeface="Helvetica Neue"/>
              </a:defRPr>
            </a:lvl2pPr>
            <a:lvl3pPr>
              <a:buNone/>
              <a:defRPr sz="1800" b="0">
                <a:solidFill>
                  <a:srgbClr val="486B69"/>
                </a:solidFill>
                <a:latin typeface="Helvetica Neue"/>
                <a:ea typeface="Helvetica Neue"/>
                <a:cs typeface="Helvetica Neue"/>
              </a:defRPr>
            </a:lvl3pPr>
            <a:lvl4pPr>
              <a:buNone/>
              <a:defRPr sz="1800" b="0">
                <a:solidFill>
                  <a:srgbClr val="486B69"/>
                </a:solidFill>
                <a:latin typeface="Helvetica Neue"/>
                <a:ea typeface="Helvetica Neue"/>
                <a:cs typeface="Helvetica Neue"/>
              </a:defRPr>
            </a:lvl4pPr>
            <a:lvl5pPr>
              <a:buNone/>
              <a:defRPr sz="1800" b="0">
                <a:solidFill>
                  <a:srgbClr val="486B69"/>
                </a:solidFill>
                <a:latin typeface="Helvetica Neue"/>
                <a:ea typeface="Helvetica Neue"/>
                <a:cs typeface="Helvetica Neue"/>
              </a:defRPr>
            </a:lvl5pPr>
            <a:lvl6pPr>
              <a:buNone/>
              <a:defRPr sz="1800" b="0">
                <a:solidFill>
                  <a:srgbClr val="486B69"/>
                </a:solidFill>
                <a:latin typeface="Helvetica Neue"/>
                <a:ea typeface="Helvetica Neue"/>
                <a:cs typeface="Helvetica Neue"/>
              </a:defRPr>
            </a:lvl6pPr>
            <a:lvl7pPr>
              <a:buNone/>
              <a:defRPr sz="1800" b="0">
                <a:solidFill>
                  <a:srgbClr val="486B69"/>
                </a:solidFill>
                <a:latin typeface="Helvetica Neue"/>
                <a:ea typeface="Helvetica Neue"/>
                <a:cs typeface="Helvetica Neue"/>
              </a:defRPr>
            </a:lvl7pPr>
            <a:lvl8pPr>
              <a:buNone/>
              <a:defRPr sz="1800" b="0">
                <a:solidFill>
                  <a:srgbClr val="486B69"/>
                </a:solidFill>
                <a:latin typeface="Helvetica Neue"/>
                <a:ea typeface="Helvetica Neue"/>
                <a:cs typeface="Helvetica Neue"/>
              </a:defRPr>
            </a:lvl8pPr>
            <a:lvl9pPr>
              <a:buNone/>
              <a:defRPr sz="1800" b="0">
                <a:solidFill>
                  <a:srgbClr val="486B69"/>
                </a:solidFill>
                <a:latin typeface="Helvetica Neue"/>
                <a:ea typeface="Helvetica Neue"/>
                <a:cs typeface="Helvetica Neue"/>
              </a:defRPr>
            </a:lvl9pPr>
          </a:lstStyle>
          <a:p xmlns:a="http://schemas.openxmlformats.org/drawingml/2006/main">
            <a:pPr>
              <a:buNone/>
              <a:defRPr sz="1800" b="0">
                <a:solidFill>
                  <a:srgbClr val="486B69"/>
                </a:solidFill>
                <a:latin typeface="Helvetica Neue"/>
                <a:ea typeface="Helvetica Neue"/>
                <a:cs typeface="Helvetica Neue"/>
              </a:defRPr>
            </a:pPr>
            <a:r>
              <a:rPr sz="1800" b="0">
                <a:solidFill>
                  <a:srgbClr val="486B69"/>
                </a:solidFill>
                <a:latin typeface="Helvetica Neue"/>
                <a:ea typeface="Helvetica Neue"/>
                <a:cs typeface="Helvetica Neue"/>
              </a:rPr>
              <a:t>No clinical dose or treatment recommendation.</a:t>
            </a:r>
          </a:p>
        </p:txBody>
      </p:sp>
    </p:spTree>
    <p:extLst>
      <p:ext uri="{BB962C8B-B14F-4D97-AF65-F5344CB8AC3E}">
        <p14:creationId xmlns:p14="http://schemas.microsoft.com/office/powerpoint/2010/main" val="179658203"/>
      </p:ext>
    </p:extLst>
  </p:cSld>
</p:sld>
</file>

<file path=ppt/slides/slide6.xml><?xml version="1.0" encoding="utf-8"?>
<p:sld xmlns:p="http://schemas.openxmlformats.org/presentationml/2006/main">
  <p:cSld>
    <p:bg>
      <p:bgPr>
        <a:solidFill xmlns:a="http://schemas.openxmlformats.org/drawingml/2006/main">
          <a:srgbClr val="FAF8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F34012B-FDC6-421A-884A-154D00EDFB21}"/>
              </a:ext>
            </a:extLst>
          </p:cNvPr>
          <p:cNvSpPr>
            <a:spLocks xmlns:a="http://schemas.openxmlformats.org/drawingml/2006/main" noGrp="1"/>
          </p:cNvSpPr>
          <p:nvPr/>
        </p:nvSpPr>
        <p:spPr>
          <a:xfrm xmlns:a="http://schemas.openxmlformats.org/drawingml/2006/main">
            <a:off x="685800" y="609600"/>
            <a:ext cx="10763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1">
                <a:solidFill>
                  <a:srgbClr val="132A35"/>
                </a:solidFill>
                <a:latin typeface="Helvetica Neue"/>
                <a:ea typeface="Helvetica Neue"/>
                <a:cs typeface="Helvetica Neue"/>
              </a:defRPr>
            </a:defPPr>
            <a:lvl1pPr>
              <a:buNone/>
              <a:defRPr sz="3450" b="1">
                <a:solidFill>
                  <a:srgbClr val="132A35"/>
                </a:solidFill>
                <a:latin typeface="Helvetica Neue"/>
                <a:ea typeface="Helvetica Neue"/>
                <a:cs typeface="Helvetica Neue"/>
              </a:defRPr>
            </a:lvl1pPr>
            <a:lvl2pPr>
              <a:buNone/>
              <a:defRPr sz="3450" b="1">
                <a:solidFill>
                  <a:srgbClr val="132A35"/>
                </a:solidFill>
                <a:latin typeface="Helvetica Neue"/>
                <a:ea typeface="Helvetica Neue"/>
                <a:cs typeface="Helvetica Neue"/>
              </a:defRPr>
            </a:lvl2pPr>
            <a:lvl3pPr>
              <a:buNone/>
              <a:defRPr sz="3450" b="1">
                <a:solidFill>
                  <a:srgbClr val="132A35"/>
                </a:solidFill>
                <a:latin typeface="Helvetica Neue"/>
                <a:ea typeface="Helvetica Neue"/>
                <a:cs typeface="Helvetica Neue"/>
              </a:defRPr>
            </a:lvl3pPr>
            <a:lvl4pPr>
              <a:buNone/>
              <a:defRPr sz="3450" b="1">
                <a:solidFill>
                  <a:srgbClr val="132A35"/>
                </a:solidFill>
                <a:latin typeface="Helvetica Neue"/>
                <a:ea typeface="Helvetica Neue"/>
                <a:cs typeface="Helvetica Neue"/>
              </a:defRPr>
            </a:lvl4pPr>
            <a:lvl5pPr>
              <a:buNone/>
              <a:defRPr sz="3450" b="1">
                <a:solidFill>
                  <a:srgbClr val="132A35"/>
                </a:solidFill>
                <a:latin typeface="Helvetica Neue"/>
                <a:ea typeface="Helvetica Neue"/>
                <a:cs typeface="Helvetica Neue"/>
              </a:defRPr>
            </a:lvl5pPr>
            <a:lvl6pPr>
              <a:buNone/>
              <a:defRPr sz="3450" b="1">
                <a:solidFill>
                  <a:srgbClr val="132A35"/>
                </a:solidFill>
                <a:latin typeface="Helvetica Neue"/>
                <a:ea typeface="Helvetica Neue"/>
                <a:cs typeface="Helvetica Neue"/>
              </a:defRPr>
            </a:lvl6pPr>
            <a:lvl7pPr>
              <a:buNone/>
              <a:defRPr sz="3450" b="1">
                <a:solidFill>
                  <a:srgbClr val="132A35"/>
                </a:solidFill>
                <a:latin typeface="Helvetica Neue"/>
                <a:ea typeface="Helvetica Neue"/>
                <a:cs typeface="Helvetica Neue"/>
              </a:defRPr>
            </a:lvl7pPr>
            <a:lvl8pPr>
              <a:buNone/>
              <a:defRPr sz="3450" b="1">
                <a:solidFill>
                  <a:srgbClr val="132A35"/>
                </a:solidFill>
                <a:latin typeface="Helvetica Neue"/>
                <a:ea typeface="Helvetica Neue"/>
                <a:cs typeface="Helvetica Neue"/>
              </a:defRPr>
            </a:lvl8pPr>
            <a:lvl9pPr>
              <a:buNone/>
              <a:defRPr sz="3450" b="1">
                <a:solidFill>
                  <a:srgbClr val="132A35"/>
                </a:solidFill>
                <a:latin typeface="Helvetica Neue"/>
                <a:ea typeface="Helvetica Neue"/>
                <a:cs typeface="Helvetica Neue"/>
              </a:defRPr>
            </a:lvl9pPr>
          </a:lstStyle>
          <a:p xmlns:a="http://schemas.openxmlformats.org/drawingml/2006/main">
            <a:pPr>
              <a:buNone/>
              <a:defRPr sz="3450" b="1">
                <a:solidFill>
                  <a:srgbClr val="132A35"/>
                </a:solidFill>
                <a:latin typeface="Helvetica Neue"/>
                <a:ea typeface="Helvetica Neue"/>
                <a:cs typeface="Helvetica Neue"/>
              </a:defRPr>
            </a:pPr>
            <a:r>
              <a:rPr sz="3450" b="1">
                <a:solidFill>
                  <a:srgbClr val="132A35"/>
                </a:solidFill>
                <a:latin typeface="Helvetica Neue"/>
                <a:ea typeface="Helvetica Neue"/>
                <a:cs typeface="Helvetica Neue"/>
              </a:rPr>
              <a:t>My contribution</a:t>
            </a:r>
          </a:p>
        </p:txBody>
      </p:sp>
      <p:sp>
        <p:nvSpPr>
          <p:cNvPr id="2" name="">
            <a:extLst xmlns:a="http://schemas.openxmlformats.org/drawingml/2006/main">
              <a:ext uri="{FF2B5EF4-FFF2-40B4-BE49-F238E27FC236}">
                <a16:creationId xmlns:a16="http://schemas.microsoft.com/office/drawing/2014/main" id="{EEE38B90-B650-44E9-80C5-1FDCA16C9930}"/>
              </a:ext>
            </a:extLst>
          </p:cNvPr>
          <p:cNvSpPr>
            <a:spLocks xmlns:a="http://schemas.openxmlformats.org/drawingml/2006/main" noGrp="1"/>
          </p:cNvSpPr>
          <p:nvPr/>
        </p:nvSpPr>
        <p:spPr>
          <a:xfrm xmlns:a="http://schemas.openxmlformats.org/drawingml/2006/main">
            <a:off x="685800" y="223837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A candidate rationale that includes conflicting evidence.</a:t>
            </a:r>
          </a:p>
        </p:txBody>
      </p:sp>
      <p:sp>
        <p:nvSpPr>
          <p:cNvPr id="3" name="">
            <a:extLst xmlns:a="http://schemas.openxmlformats.org/drawingml/2006/main">
              <a:ext uri="{FF2B5EF4-FFF2-40B4-BE49-F238E27FC236}">
                <a16:creationId xmlns:a16="http://schemas.microsoft.com/office/drawing/2014/main" id="{866304EB-32E3-4976-B4E4-5763ED838EDF}"/>
              </a:ext>
            </a:extLst>
          </p:cNvPr>
          <p:cNvSpPr>
            <a:spLocks xmlns:a="http://schemas.openxmlformats.org/drawingml/2006/main" noGrp="1"/>
          </p:cNvSpPr>
          <p:nvPr/>
        </p:nvSpPr>
        <p:spPr>
          <a:xfrm xmlns:a="http://schemas.openxmlformats.org/drawingml/2006/main">
            <a:off x="685800" y="3143250"/>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Reproducible analysis and explicit tests of the hypothesis.</a:t>
            </a:r>
          </a:p>
        </p:txBody>
      </p:sp>
      <p:sp>
        <p:nvSpPr>
          <p:cNvPr id="4" name="">
            <a:extLst xmlns:a="http://schemas.openxmlformats.org/drawingml/2006/main">
              <a:ext uri="{FF2B5EF4-FFF2-40B4-BE49-F238E27FC236}">
                <a16:creationId xmlns:a16="http://schemas.microsoft.com/office/drawing/2014/main" id="{6F98CFE2-FD77-45E8-89DC-AC158524D79F}"/>
              </a:ext>
            </a:extLst>
          </p:cNvPr>
          <p:cNvSpPr>
            <a:spLocks xmlns:a="http://schemas.openxmlformats.org/drawingml/2006/main" noGrp="1"/>
          </p:cNvSpPr>
          <p:nvPr/>
        </p:nvSpPr>
        <p:spPr>
          <a:xfrm xmlns:a="http://schemas.openxmlformats.org/drawingml/2006/main">
            <a:off x="685800" y="4048125"/>
            <a:ext cx="10715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2A35"/>
                </a:solidFill>
                <a:latin typeface="Helvetica Neue"/>
                <a:ea typeface="Helvetica Neue"/>
                <a:cs typeface="Helvetica Neue"/>
              </a:defRPr>
            </a:defPPr>
            <a:lvl1pPr>
              <a:buNone/>
              <a:defRPr sz="2325" b="0">
                <a:solidFill>
                  <a:srgbClr val="132A35"/>
                </a:solidFill>
                <a:latin typeface="Helvetica Neue"/>
                <a:ea typeface="Helvetica Neue"/>
                <a:cs typeface="Helvetica Neue"/>
              </a:defRPr>
            </a:lvl1pPr>
            <a:lvl2pPr>
              <a:buNone/>
              <a:defRPr sz="2325" b="0">
                <a:solidFill>
                  <a:srgbClr val="132A35"/>
                </a:solidFill>
                <a:latin typeface="Helvetica Neue"/>
                <a:ea typeface="Helvetica Neue"/>
                <a:cs typeface="Helvetica Neue"/>
              </a:defRPr>
            </a:lvl2pPr>
            <a:lvl3pPr>
              <a:buNone/>
              <a:defRPr sz="2325" b="0">
                <a:solidFill>
                  <a:srgbClr val="132A35"/>
                </a:solidFill>
                <a:latin typeface="Helvetica Neue"/>
                <a:ea typeface="Helvetica Neue"/>
                <a:cs typeface="Helvetica Neue"/>
              </a:defRPr>
            </a:lvl3pPr>
            <a:lvl4pPr>
              <a:buNone/>
              <a:defRPr sz="2325" b="0">
                <a:solidFill>
                  <a:srgbClr val="132A35"/>
                </a:solidFill>
                <a:latin typeface="Helvetica Neue"/>
                <a:ea typeface="Helvetica Neue"/>
                <a:cs typeface="Helvetica Neue"/>
              </a:defRPr>
            </a:lvl4pPr>
            <a:lvl5pPr>
              <a:buNone/>
              <a:defRPr sz="2325" b="0">
                <a:solidFill>
                  <a:srgbClr val="132A35"/>
                </a:solidFill>
                <a:latin typeface="Helvetica Neue"/>
                <a:ea typeface="Helvetica Neue"/>
                <a:cs typeface="Helvetica Neue"/>
              </a:defRPr>
            </a:lvl5pPr>
            <a:lvl6pPr>
              <a:buNone/>
              <a:defRPr sz="2325" b="0">
                <a:solidFill>
                  <a:srgbClr val="132A35"/>
                </a:solidFill>
                <a:latin typeface="Helvetica Neue"/>
                <a:ea typeface="Helvetica Neue"/>
                <a:cs typeface="Helvetica Neue"/>
              </a:defRPr>
            </a:lvl6pPr>
            <a:lvl7pPr>
              <a:buNone/>
              <a:defRPr sz="2325" b="0">
                <a:solidFill>
                  <a:srgbClr val="132A35"/>
                </a:solidFill>
                <a:latin typeface="Helvetica Neue"/>
                <a:ea typeface="Helvetica Neue"/>
                <a:cs typeface="Helvetica Neue"/>
              </a:defRPr>
            </a:lvl7pPr>
            <a:lvl8pPr>
              <a:buNone/>
              <a:defRPr sz="2325" b="0">
                <a:solidFill>
                  <a:srgbClr val="132A35"/>
                </a:solidFill>
                <a:latin typeface="Helvetica Neue"/>
                <a:ea typeface="Helvetica Neue"/>
                <a:cs typeface="Helvetica Neue"/>
              </a:defRPr>
            </a:lvl8pPr>
            <a:lvl9pPr>
              <a:buNone/>
              <a:defRPr sz="2325" b="0">
                <a:solidFill>
                  <a:srgbClr val="132A35"/>
                </a:solidFill>
                <a:latin typeface="Helvetica Neue"/>
                <a:ea typeface="Helvetica Neue"/>
                <a:cs typeface="Helvetica Neue"/>
              </a:defRPr>
            </a:lvl9pPr>
          </a:lstStyle>
          <a:p xmlns:a="http://schemas.openxmlformats.org/drawingml/2006/main">
            <a:pPr>
              <a:buNone/>
              <a:defRPr sz="2325" b="0">
                <a:solidFill>
                  <a:srgbClr val="132A35"/>
                </a:solidFill>
                <a:latin typeface="Helvetica Neue"/>
                <a:ea typeface="Helvetica Neue"/>
                <a:cs typeface="Helvetica Neue"/>
              </a:defRPr>
            </a:pPr>
            <a:r>
              <a:rPr sz="2325" b="0">
                <a:solidFill>
                  <a:srgbClr val="132A35"/>
                </a:solidFill>
                <a:latin typeface="Helvetica Neue"/>
                <a:ea typeface="Helvetica Neue"/>
                <a:cs typeface="Helvetica Neue"/>
              </a:rPr>
              <a:t>A reusable workflow; broader disease validation remains.</a:t>
            </a:r>
          </a:p>
        </p:txBody>
      </p:sp>
      <p:sp>
        <p:nvSpPr>
          <p:cNvPr id="5" name="">
            <a:extLst xmlns:a="http://schemas.openxmlformats.org/drawingml/2006/main">
              <a:ext uri="{FF2B5EF4-FFF2-40B4-BE49-F238E27FC236}">
                <a16:creationId xmlns:a16="http://schemas.microsoft.com/office/drawing/2014/main" id="{F3952622-98BA-4FF1-8576-7E9225707E9C}"/>
              </a:ext>
            </a:extLst>
          </p:cNvPr>
          <p:cNvSpPr>
            <a:spLocks xmlns:a="http://schemas.openxmlformats.org/drawingml/2006/main" noGrp="1"/>
          </p:cNvSpPr>
          <p:nvPr/>
        </p:nvSpPr>
        <p:spPr>
          <a:xfrm xmlns:a="http://schemas.openxmlformats.org/drawingml/2006/main">
            <a:off x="685800" y="5905500"/>
            <a:ext cx="10572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486B69"/>
                </a:solidFill>
                <a:latin typeface="Helvetica Neue"/>
                <a:ea typeface="Helvetica Neue"/>
                <a:cs typeface="Helvetica Neue"/>
              </a:defRPr>
            </a:defPPr>
            <a:lvl1pPr>
              <a:buNone/>
              <a:defRPr sz="1800" b="0">
                <a:solidFill>
                  <a:srgbClr val="486B69"/>
                </a:solidFill>
                <a:latin typeface="Helvetica Neue"/>
                <a:ea typeface="Helvetica Neue"/>
                <a:cs typeface="Helvetica Neue"/>
              </a:defRPr>
            </a:lvl1pPr>
            <a:lvl2pPr>
              <a:buNone/>
              <a:defRPr sz="1800" b="0">
                <a:solidFill>
                  <a:srgbClr val="486B69"/>
                </a:solidFill>
                <a:latin typeface="Helvetica Neue"/>
                <a:ea typeface="Helvetica Neue"/>
                <a:cs typeface="Helvetica Neue"/>
              </a:defRPr>
            </a:lvl2pPr>
            <a:lvl3pPr>
              <a:buNone/>
              <a:defRPr sz="1800" b="0">
                <a:solidFill>
                  <a:srgbClr val="486B69"/>
                </a:solidFill>
                <a:latin typeface="Helvetica Neue"/>
                <a:ea typeface="Helvetica Neue"/>
                <a:cs typeface="Helvetica Neue"/>
              </a:defRPr>
            </a:lvl3pPr>
            <a:lvl4pPr>
              <a:buNone/>
              <a:defRPr sz="1800" b="0">
                <a:solidFill>
                  <a:srgbClr val="486B69"/>
                </a:solidFill>
                <a:latin typeface="Helvetica Neue"/>
                <a:ea typeface="Helvetica Neue"/>
                <a:cs typeface="Helvetica Neue"/>
              </a:defRPr>
            </a:lvl4pPr>
            <a:lvl5pPr>
              <a:buNone/>
              <a:defRPr sz="1800" b="0">
                <a:solidFill>
                  <a:srgbClr val="486B69"/>
                </a:solidFill>
                <a:latin typeface="Helvetica Neue"/>
                <a:ea typeface="Helvetica Neue"/>
                <a:cs typeface="Helvetica Neue"/>
              </a:defRPr>
            </a:lvl5pPr>
            <a:lvl6pPr>
              <a:buNone/>
              <a:defRPr sz="1800" b="0">
                <a:solidFill>
                  <a:srgbClr val="486B69"/>
                </a:solidFill>
                <a:latin typeface="Helvetica Neue"/>
                <a:ea typeface="Helvetica Neue"/>
                <a:cs typeface="Helvetica Neue"/>
              </a:defRPr>
            </a:lvl6pPr>
            <a:lvl7pPr>
              <a:buNone/>
              <a:defRPr sz="1800" b="0">
                <a:solidFill>
                  <a:srgbClr val="486B69"/>
                </a:solidFill>
                <a:latin typeface="Helvetica Neue"/>
                <a:ea typeface="Helvetica Neue"/>
                <a:cs typeface="Helvetica Neue"/>
              </a:defRPr>
            </a:lvl7pPr>
            <a:lvl8pPr>
              <a:buNone/>
              <a:defRPr sz="1800" b="0">
                <a:solidFill>
                  <a:srgbClr val="486B69"/>
                </a:solidFill>
                <a:latin typeface="Helvetica Neue"/>
                <a:ea typeface="Helvetica Neue"/>
                <a:cs typeface="Helvetica Neue"/>
              </a:defRPr>
            </a:lvl8pPr>
            <a:lvl9pPr>
              <a:buNone/>
              <a:defRPr sz="1800" b="0">
                <a:solidFill>
                  <a:srgbClr val="486B69"/>
                </a:solidFill>
                <a:latin typeface="Helvetica Neue"/>
                <a:ea typeface="Helvetica Neue"/>
                <a:cs typeface="Helvetica Neue"/>
              </a:defRPr>
            </a:lvl9pPr>
          </a:lstStyle>
          <a:p xmlns:a="http://schemas.openxmlformats.org/drawingml/2006/main">
            <a:pPr>
              <a:buNone/>
              <a:defRPr sz="1800" b="0">
                <a:solidFill>
                  <a:srgbClr val="486B69"/>
                </a:solidFill>
                <a:latin typeface="Helvetica Neue"/>
                <a:ea typeface="Helvetica Neue"/>
                <a:cs typeface="Helvetica Neue"/>
              </a:defRPr>
            </a:pPr>
            <a:r>
              <a:rPr sz="1800" b="0">
                <a:solidFill>
                  <a:srgbClr val="486B69"/>
                </a:solidFill>
                <a:latin typeface="Helvetica Neue"/>
                <a:ea typeface="Helvetica Neue"/>
                <a:cs typeface="Helvetica Neue"/>
              </a:rPr>
              <a:t>Independent software perspective, with Codex assistance</a:t>
            </a:r>
          </a:p>
        </p:txBody>
      </p:sp>
    </p:spTree>
    <p:extLst>
      <p:ext uri="{BB962C8B-B14F-4D97-AF65-F5344CB8AC3E}">
        <p14:creationId xmlns:p14="http://schemas.microsoft.com/office/powerpoint/2010/main" val="16688710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2026-10-18T21:00:40.7250000Z</dcterms:created>
  <dcterms:modified xsi:type="dcterms:W3CDTF">2026-10-18T21:00:40.7250000Z</dcterms:modified>
</coreProperties>
</file>